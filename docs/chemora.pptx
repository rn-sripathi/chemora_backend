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Calibri (MS)" charset="1" panose="020F0502020204030204"/>
      <p:regular r:id="rId30"/>
    </p:embeddedFont>
    <p:embeddedFont>
      <p:font typeface="Times New Roman Bold" charset="1" panose="02020803070505020304"/>
      <p:regular r:id="rId31"/>
    </p:embeddedFont>
    <p:embeddedFont>
      <p:font typeface="Times New Roman" charset="1" panose="020206030504050203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Keshav Memorial Engineering College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Keshav Memorial Engineering College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Keshav Memorial Engineering College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embeddings/oleObject2.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3"/>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sp>
        <p:nvSpPr>
          <p:cNvPr name="TextBox 7" id="7"/>
          <p:cNvSpPr txBox="true"/>
          <p:nvPr/>
        </p:nvSpPr>
        <p:spPr>
          <a:xfrm rot="0">
            <a:off x="1632891" y="6277072"/>
            <a:ext cx="5120776" cy="628650"/>
          </a:xfrm>
          <a:prstGeom prst="rect">
            <a:avLst/>
          </a:prstGeom>
        </p:spPr>
        <p:txBody>
          <a:bodyPr anchor="t" rtlCol="false" tIns="0" lIns="0" bIns="0" rIns="0">
            <a:spAutoFit/>
          </a:bodyPr>
          <a:lstStyle/>
          <a:p>
            <a:pPr algn="just">
              <a:lnSpc>
                <a:spcPts val="4320"/>
              </a:lnSpc>
            </a:pPr>
            <a:r>
              <a:rPr lang="en-US" sz="3600" b="true">
                <a:solidFill>
                  <a:srgbClr val="000000"/>
                </a:solidFill>
                <a:latin typeface="Times New Roman Bold"/>
                <a:ea typeface="Times New Roman Bold"/>
                <a:cs typeface="Times New Roman Bold"/>
                <a:sym typeface="Times New Roman Bold"/>
              </a:rPr>
              <a:t>Batch ID: CSM2025B12</a:t>
            </a:r>
          </a:p>
        </p:txBody>
      </p:sp>
      <p:sp>
        <p:nvSpPr>
          <p:cNvPr name="TextBox 8" id="8"/>
          <p:cNvSpPr txBox="true"/>
          <p:nvPr/>
        </p:nvSpPr>
        <p:spPr>
          <a:xfrm rot="0">
            <a:off x="1491860" y="7515322"/>
            <a:ext cx="6617480" cy="1285875"/>
          </a:xfrm>
          <a:prstGeom prst="rect">
            <a:avLst/>
          </a:prstGeom>
        </p:spPr>
        <p:txBody>
          <a:bodyPr anchor="t" rtlCol="false" tIns="0" lIns="0" bIns="0" rIns="0">
            <a:spAutoFit/>
          </a:bodyPr>
          <a:lstStyle/>
          <a:p>
            <a:pPr algn="just" marL="705802" indent="-176450" lvl="3">
              <a:lnSpc>
                <a:spcPts val="3240"/>
              </a:lnSpc>
              <a:buFont typeface="Arial"/>
              <a:buChar char="￭"/>
            </a:pPr>
            <a:r>
              <a:rPr lang="en-US" sz="2700">
                <a:solidFill>
                  <a:srgbClr val="000000"/>
                </a:solidFill>
                <a:latin typeface="Times New Roman"/>
                <a:ea typeface="Times New Roman"/>
                <a:cs typeface="Times New Roman"/>
                <a:sym typeface="Times New Roman"/>
              </a:rPr>
              <a:t>G.Harinivas (245522748079)</a:t>
            </a:r>
          </a:p>
          <a:p>
            <a:pPr algn="just" marL="705802" indent="-176450" lvl="3">
              <a:lnSpc>
                <a:spcPts val="3240"/>
              </a:lnSpc>
              <a:buFont typeface="Arial"/>
              <a:buChar char="￭"/>
            </a:pPr>
            <a:r>
              <a:rPr lang="en-US" sz="2700">
                <a:solidFill>
                  <a:srgbClr val="000000"/>
                </a:solidFill>
                <a:latin typeface="Times New Roman"/>
                <a:ea typeface="Times New Roman"/>
                <a:cs typeface="Times New Roman"/>
                <a:sym typeface="Times New Roman"/>
              </a:rPr>
              <a:t>J.Mahathi (245522748086)</a:t>
            </a:r>
          </a:p>
          <a:p>
            <a:pPr algn="just" marL="705802" indent="-176450" lvl="3">
              <a:lnSpc>
                <a:spcPts val="3240"/>
              </a:lnSpc>
              <a:buFont typeface="Arial"/>
              <a:buChar char="￭"/>
            </a:pPr>
            <a:r>
              <a:rPr lang="en-US" sz="2700">
                <a:solidFill>
                  <a:srgbClr val="000000"/>
                </a:solidFill>
                <a:latin typeface="Times New Roman"/>
                <a:ea typeface="Times New Roman"/>
                <a:cs typeface="Times New Roman"/>
                <a:sym typeface="Times New Roman"/>
              </a:rPr>
              <a:t>Rishwanth Aryan Sripathi (245522748128)</a:t>
            </a:r>
          </a:p>
        </p:txBody>
      </p:sp>
      <p:sp>
        <p:nvSpPr>
          <p:cNvPr name="TextBox 9" id="9"/>
          <p:cNvSpPr txBox="true"/>
          <p:nvPr/>
        </p:nvSpPr>
        <p:spPr>
          <a:xfrm rot="0">
            <a:off x="3292603" y="1519785"/>
            <a:ext cx="12214762" cy="96143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CHEMORA – Chemical Exploration</a:t>
            </a:r>
          </a:p>
        </p:txBody>
      </p:sp>
      <p:sp>
        <p:nvSpPr>
          <p:cNvPr name="TextBox 10" id="10"/>
          <p:cNvSpPr txBox="true"/>
          <p:nvPr/>
        </p:nvSpPr>
        <p:spPr>
          <a:xfrm rot="0">
            <a:off x="14585380" y="6718607"/>
            <a:ext cx="1452665" cy="686783"/>
          </a:xfrm>
          <a:prstGeom prst="rect">
            <a:avLst/>
          </a:prstGeom>
        </p:spPr>
        <p:txBody>
          <a:bodyPr anchor="t" rtlCol="false" tIns="0" lIns="0" bIns="0" rIns="0">
            <a:spAutoFit/>
          </a:bodyPr>
          <a:lstStyle/>
          <a:p>
            <a:pPr algn="just">
              <a:lnSpc>
                <a:spcPts val="4320"/>
              </a:lnSpc>
            </a:pPr>
            <a:r>
              <a:rPr lang="en-US" sz="3600" b="true">
                <a:solidFill>
                  <a:srgbClr val="000000"/>
                </a:solidFill>
                <a:latin typeface="Times New Roman Bold"/>
                <a:ea typeface="Times New Roman Bold"/>
                <a:cs typeface="Times New Roman Bold"/>
                <a:sym typeface="Times New Roman Bold"/>
              </a:rPr>
              <a:t>Guide:</a:t>
            </a:r>
          </a:p>
        </p:txBody>
      </p:sp>
      <p:sp>
        <p:nvSpPr>
          <p:cNvPr name="TextBox 11" id="11"/>
          <p:cNvSpPr txBox="true"/>
          <p:nvPr/>
        </p:nvSpPr>
        <p:spPr>
          <a:xfrm rot="0">
            <a:off x="1632891" y="6910060"/>
            <a:ext cx="3319425" cy="686783"/>
          </a:xfrm>
          <a:prstGeom prst="rect">
            <a:avLst/>
          </a:prstGeom>
        </p:spPr>
        <p:txBody>
          <a:bodyPr anchor="t" rtlCol="false" tIns="0" lIns="0" bIns="0" rIns="0">
            <a:spAutoFit/>
          </a:bodyPr>
          <a:lstStyle/>
          <a:p>
            <a:pPr algn="just">
              <a:lnSpc>
                <a:spcPts val="4320"/>
              </a:lnSpc>
            </a:pPr>
            <a:r>
              <a:rPr lang="en-US" sz="3600" b="true">
                <a:solidFill>
                  <a:srgbClr val="000000"/>
                </a:solidFill>
                <a:latin typeface="Times New Roman Bold"/>
                <a:ea typeface="Times New Roman Bold"/>
                <a:cs typeface="Times New Roman Bold"/>
                <a:sym typeface="Times New Roman Bold"/>
              </a:rPr>
              <a:t>Team Members:</a:t>
            </a:r>
          </a:p>
        </p:txBody>
      </p:sp>
      <p:sp>
        <p:nvSpPr>
          <p:cNvPr name="TextBox 12" id="12"/>
          <p:cNvSpPr txBox="true"/>
          <p:nvPr/>
        </p:nvSpPr>
        <p:spPr>
          <a:xfrm rot="0">
            <a:off x="12476590" y="7539663"/>
            <a:ext cx="5390259" cy="1266825"/>
          </a:xfrm>
          <a:prstGeom prst="rect">
            <a:avLst/>
          </a:prstGeom>
        </p:spPr>
        <p:txBody>
          <a:bodyPr anchor="t" rtlCol="false" tIns="0" lIns="0" bIns="0" rIns="0">
            <a:spAutoFit/>
          </a:bodyPr>
          <a:lstStyle/>
          <a:p>
            <a:pPr algn="ctr">
              <a:lnSpc>
                <a:spcPts val="3240"/>
              </a:lnSpc>
            </a:pPr>
            <a:r>
              <a:rPr lang="en-US" sz="2700">
                <a:solidFill>
                  <a:srgbClr val="000000"/>
                </a:solidFill>
                <a:latin typeface="Times New Roman"/>
                <a:ea typeface="Times New Roman"/>
                <a:cs typeface="Times New Roman"/>
                <a:sym typeface="Times New Roman"/>
              </a:rPr>
              <a:t>Mrs.Padmaja UshaRani</a:t>
            </a:r>
          </a:p>
          <a:p>
            <a:pPr algn="ctr">
              <a:lnSpc>
                <a:spcPts val="3240"/>
              </a:lnSpc>
            </a:pPr>
            <a:r>
              <a:rPr lang="en-US" sz="2700">
                <a:solidFill>
                  <a:srgbClr val="000000"/>
                </a:solidFill>
                <a:latin typeface="Times New Roman"/>
                <a:ea typeface="Times New Roman"/>
                <a:cs typeface="Times New Roman"/>
                <a:sym typeface="Times New Roman"/>
              </a:rPr>
              <a:t>M.Tech(Ph.D)</a:t>
            </a:r>
          </a:p>
          <a:p>
            <a:pPr algn="ctr">
              <a:lnSpc>
                <a:spcPts val="3240"/>
              </a:lnSpc>
            </a:pPr>
            <a:r>
              <a:rPr lang="en-US" sz="2700">
                <a:solidFill>
                  <a:srgbClr val="000000"/>
                </a:solidFill>
                <a:latin typeface="Times New Roman"/>
                <a:ea typeface="Times New Roman"/>
                <a:cs typeface="Times New Roman"/>
                <a:sym typeface="Times New Roman"/>
              </a:rPr>
              <a:t>Assistant Professor ,CSE(AI&amp;ML) </a:t>
            </a:r>
          </a:p>
        </p:txBody>
      </p:sp>
      <p:sp>
        <p:nvSpPr>
          <p:cNvPr name="TextBox 13" id="13"/>
          <p:cNvSpPr txBox="true"/>
          <p:nvPr/>
        </p:nvSpPr>
        <p:spPr>
          <a:xfrm rot="0">
            <a:off x="1787955" y="8932500"/>
            <a:ext cx="3674427" cy="514350"/>
          </a:xfrm>
          <a:prstGeom prst="rect">
            <a:avLst/>
          </a:prstGeom>
        </p:spPr>
        <p:txBody>
          <a:bodyPr anchor="t" rtlCol="false" tIns="0" lIns="0" bIns="0" rIns="0">
            <a:spAutoFit/>
          </a:bodyPr>
          <a:lstStyle/>
          <a:p>
            <a:pPr algn="just">
              <a:lnSpc>
                <a:spcPts val="3600"/>
              </a:lnSpc>
            </a:pPr>
            <a:r>
              <a:rPr lang="en-US" sz="3000" b="true">
                <a:solidFill>
                  <a:srgbClr val="000000"/>
                </a:solidFill>
                <a:latin typeface="Times New Roman Bold"/>
                <a:ea typeface="Times New Roman Bold"/>
                <a:cs typeface="Times New Roman Bold"/>
                <a:sym typeface="Times New Roman Bold"/>
              </a:rPr>
              <a:t>Dept: CSE (AI&amp;ML) </a:t>
            </a:r>
          </a:p>
        </p:txBody>
      </p:sp>
      <p:grpSp>
        <p:nvGrpSpPr>
          <p:cNvPr name="Group 14" id="14"/>
          <p:cNvGrpSpPr/>
          <p:nvPr/>
        </p:nvGrpSpPr>
        <p:grpSpPr>
          <a:xfrm rot="0">
            <a:off x="7682538" y="2903792"/>
            <a:ext cx="2922937" cy="2002345"/>
            <a:chOff x="0" y="0"/>
            <a:chExt cx="3897249" cy="2669794"/>
          </a:xfrm>
        </p:grpSpPr>
        <p:sp>
          <p:nvSpPr>
            <p:cNvPr name="Freeform 15" id="15" descr="D:\0.Department\0. HoD Administration\Formats\KMEC Logo Main.png"/>
            <p:cNvSpPr/>
            <p:nvPr/>
          </p:nvSpPr>
          <p:spPr>
            <a:xfrm flipH="false" flipV="false" rot="0">
              <a:off x="0" y="0"/>
              <a:ext cx="3897249" cy="2669794"/>
            </a:xfrm>
            <a:custGeom>
              <a:avLst/>
              <a:gdLst/>
              <a:ahLst/>
              <a:cxnLst/>
              <a:rect r="r" b="b" t="t" l="l"/>
              <a:pathLst>
                <a:path h="2669794" w="3897249">
                  <a:moveTo>
                    <a:pt x="0" y="0"/>
                  </a:moveTo>
                  <a:lnTo>
                    <a:pt x="3897249" y="0"/>
                  </a:lnTo>
                  <a:lnTo>
                    <a:pt x="3897249" y="2669794"/>
                  </a:lnTo>
                  <a:lnTo>
                    <a:pt x="0" y="2669794"/>
                  </a:lnTo>
                  <a:lnTo>
                    <a:pt x="0" y="0"/>
                  </a:lnTo>
                  <a:close/>
                </a:path>
              </a:pathLst>
            </a:custGeom>
            <a:blipFill>
              <a:blip r:embed="rId3"/>
              <a:stretch>
                <a:fillRect l="0" t="0" r="0" b="0"/>
              </a:stretch>
            </a:blipFill>
          </p:spPr>
        </p:sp>
      </p:grpSp>
      <p:sp>
        <p:nvSpPr>
          <p:cNvPr name="TextBox 16" id="16"/>
          <p:cNvSpPr txBox="true"/>
          <p:nvPr/>
        </p:nvSpPr>
        <p:spPr>
          <a:xfrm rot="0">
            <a:off x="7040513" y="4936852"/>
            <a:ext cx="3742810" cy="750540"/>
          </a:xfrm>
          <a:prstGeom prst="rect">
            <a:avLst/>
          </a:prstGeom>
        </p:spPr>
        <p:txBody>
          <a:bodyPr anchor="t" rtlCol="false" tIns="0" lIns="0" bIns="0" rIns="0">
            <a:spAutoFit/>
          </a:bodyPr>
          <a:lstStyle/>
          <a:p>
            <a:pPr algn="just">
              <a:lnSpc>
                <a:spcPts val="5040"/>
              </a:lnSpc>
            </a:pPr>
            <a:r>
              <a:rPr lang="en-US" sz="4200" b="true">
                <a:solidFill>
                  <a:srgbClr val="000000"/>
                </a:solidFill>
                <a:latin typeface="Times New Roman Bold"/>
                <a:ea typeface="Times New Roman Bold"/>
                <a:cs typeface="Times New Roman Bold"/>
                <a:sym typeface="Times New Roman Bold"/>
              </a:rPr>
              <a:t>A.Y:2025 - 2026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3"/>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sp>
        <p:nvSpPr>
          <p:cNvPr name="TextBox 7" id="7"/>
          <p:cNvSpPr txBox="true"/>
          <p:nvPr/>
        </p:nvSpPr>
        <p:spPr>
          <a:xfrm rot="0">
            <a:off x="838786" y="1243197"/>
            <a:ext cx="14676117" cy="2012115"/>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Abstract</a:t>
            </a:r>
          </a:p>
        </p:txBody>
      </p:sp>
      <p:grpSp>
        <p:nvGrpSpPr>
          <p:cNvPr name="Group 8" id="8"/>
          <p:cNvGrpSpPr/>
          <p:nvPr/>
        </p:nvGrpSpPr>
        <p:grpSpPr>
          <a:xfrm rot="0">
            <a:off x="1257300" y="9505949"/>
            <a:ext cx="4114800" cy="576264"/>
            <a:chOff x="0" y="0"/>
            <a:chExt cx="5486400" cy="768351"/>
          </a:xfrm>
        </p:grpSpPr>
        <p:sp>
          <p:nvSpPr>
            <p:cNvPr name="Freeform 9" id="9"/>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0" id="10"/>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1" id="11"/>
          <p:cNvGrpSpPr/>
          <p:nvPr/>
        </p:nvGrpSpPr>
        <p:grpSpPr>
          <a:xfrm rot="0">
            <a:off x="12915900" y="9505949"/>
            <a:ext cx="4114800" cy="576264"/>
            <a:chOff x="0" y="0"/>
            <a:chExt cx="5486400" cy="768351"/>
          </a:xfrm>
        </p:grpSpPr>
        <p:sp>
          <p:nvSpPr>
            <p:cNvPr name="Freeform 12" id="12"/>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3" id="13"/>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2</a:t>
              </a:r>
            </a:p>
          </p:txBody>
        </p:sp>
      </p:grpSp>
      <p:grpSp>
        <p:nvGrpSpPr>
          <p:cNvPr name="Group 14" id="14"/>
          <p:cNvGrpSpPr/>
          <p:nvPr/>
        </p:nvGrpSpPr>
        <p:grpSpPr>
          <a:xfrm rot="0">
            <a:off x="7499838" y="9464498"/>
            <a:ext cx="2857500" cy="576264"/>
            <a:chOff x="0" y="0"/>
            <a:chExt cx="3810000" cy="768351"/>
          </a:xfrm>
        </p:grpSpPr>
        <p:sp>
          <p:nvSpPr>
            <p:cNvPr name="Freeform 15" id="15"/>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6" id="16"/>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7" id="17"/>
          <p:cNvSpPr txBox="true"/>
          <p:nvPr/>
        </p:nvSpPr>
        <p:spPr>
          <a:xfrm rot="0">
            <a:off x="927588" y="2679792"/>
            <a:ext cx="16002000" cy="6457950"/>
          </a:xfrm>
          <a:prstGeom prst="rect">
            <a:avLst/>
          </a:prstGeom>
        </p:spPr>
        <p:txBody>
          <a:bodyPr anchor="t" rtlCol="false" tIns="0" lIns="0" bIns="0" rIns="0">
            <a:spAutoFit/>
          </a:bodyPr>
          <a:lstStyle/>
          <a:p>
            <a:pPr algn="just">
              <a:lnSpc>
                <a:spcPts val="3600"/>
              </a:lnSpc>
            </a:pPr>
            <a:r>
              <a:rPr lang="en-US" sz="3000" b="true">
                <a:solidFill>
                  <a:srgbClr val="000000"/>
                </a:solidFill>
                <a:latin typeface="Times New Roman Bold"/>
                <a:ea typeface="Times New Roman Bold"/>
                <a:cs typeface="Times New Roman Bold"/>
                <a:sym typeface="Times New Roman Bold"/>
              </a:rPr>
              <a:t>Chemora</a:t>
            </a:r>
            <a:r>
              <a:rPr lang="en-US" sz="3000">
                <a:solidFill>
                  <a:srgbClr val="000000"/>
                </a:solidFill>
                <a:latin typeface="Times New Roman"/>
                <a:ea typeface="Times New Roman"/>
                <a:cs typeface="Times New Roman"/>
                <a:sym typeface="Times New Roman"/>
              </a:rPr>
              <a:t> is an intelligent agent-based AI system designed to streamline and accelerate chemical research. It integrates natural language processing, cheminformatics tools, and chemical databases to interpret user queries and automate key research operations. The system can retrieve relevant literature, analyze reaction data, suggest synthesis routes, evaluate safety considerations, and generate structured experimental protocols. By handling these routine tasks, Chemora significantly reduces manual effort and supports more efficient chemical investigation.</a:t>
            </a:r>
          </a:p>
          <a:p>
            <a:pPr algn="just">
              <a:lnSpc>
                <a:spcPts val="3600"/>
              </a:lnSpc>
            </a:pPr>
          </a:p>
          <a:p>
            <a:pPr algn="just">
              <a:lnSpc>
                <a:spcPts val="3600"/>
              </a:lnSpc>
            </a:pPr>
            <a:r>
              <a:rPr lang="en-US" sz="3000">
                <a:solidFill>
                  <a:srgbClr val="000000"/>
                </a:solidFill>
                <a:latin typeface="Times New Roman"/>
                <a:ea typeface="Times New Roman"/>
                <a:cs typeface="Times New Roman"/>
                <a:sym typeface="Times New Roman"/>
              </a:rPr>
              <a:t>The platform functions through a set of specialized agents, each responsible for tasks such as information retrieval, synthesis planning, or hazard assessment. These agents operate under a central orchestrator that coordinates their outputs to ensure clarity, accuracy, and ease of use for researchers. With built-in provenance tracking and safety checks, Chemora promotes reliability and responsible usage. Overall, it acts as a powerful decision-support tool, enabling chemists to explore synthetic possibilities more confidently and focus on deeper scientific innovation.</a:t>
            </a:r>
          </a:p>
          <a:p>
            <a:pPr algn="just">
              <a:lnSpc>
                <a:spcPts val="360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84949"/>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05949"/>
            <a:ext cx="4114800" cy="576264"/>
            <a:chOff x="0" y="0"/>
            <a:chExt cx="5486400" cy="768351"/>
          </a:xfrm>
        </p:grpSpPr>
        <p:sp>
          <p:nvSpPr>
            <p:cNvPr name="Freeform 8" id="8"/>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9" id="9"/>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64498"/>
            <a:ext cx="2857500" cy="576264"/>
            <a:chOff x="0" y="0"/>
            <a:chExt cx="3810000" cy="768351"/>
          </a:xfrm>
        </p:grpSpPr>
        <p:sp>
          <p:nvSpPr>
            <p:cNvPr name="Freeform 11" id="11"/>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2" id="12"/>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05949"/>
            <a:ext cx="4114800" cy="576264"/>
            <a:chOff x="0" y="0"/>
            <a:chExt cx="5486400" cy="768351"/>
          </a:xfrm>
        </p:grpSpPr>
        <p:sp>
          <p:nvSpPr>
            <p:cNvPr name="Freeform 14" id="14"/>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5" id="15"/>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3</a:t>
              </a:r>
            </a:p>
          </p:txBody>
        </p:sp>
      </p:grpSp>
      <p:sp>
        <p:nvSpPr>
          <p:cNvPr name="TextBox 16" id="16"/>
          <p:cNvSpPr txBox="true"/>
          <p:nvPr/>
        </p:nvSpPr>
        <p:spPr>
          <a:xfrm rot="0">
            <a:off x="926710" y="1014594"/>
            <a:ext cx="14676117" cy="2012115"/>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Introduction:</a:t>
            </a:r>
          </a:p>
        </p:txBody>
      </p:sp>
      <p:sp>
        <p:nvSpPr>
          <p:cNvPr name="TextBox 17" id="17"/>
          <p:cNvSpPr txBox="true"/>
          <p:nvPr/>
        </p:nvSpPr>
        <p:spPr>
          <a:xfrm rot="0">
            <a:off x="1028700" y="2276475"/>
            <a:ext cx="15420238" cy="7372350"/>
          </a:xfrm>
          <a:prstGeom prst="rect">
            <a:avLst/>
          </a:prstGeom>
        </p:spPr>
        <p:txBody>
          <a:bodyPr anchor="t" rtlCol="false" tIns="0" lIns="0" bIns="0" rIns="0">
            <a:spAutoFit/>
          </a:bodyPr>
          <a:lstStyle/>
          <a:p>
            <a:pPr algn="l">
              <a:lnSpc>
                <a:spcPts val="3600"/>
              </a:lnSpc>
            </a:pPr>
            <a:r>
              <a:rPr lang="en-US" sz="3000">
                <a:solidFill>
                  <a:srgbClr val="000000"/>
                </a:solidFill>
                <a:latin typeface="Times New Roman"/>
                <a:ea typeface="Times New Roman"/>
                <a:cs typeface="Times New Roman"/>
                <a:sym typeface="Times New Roman"/>
              </a:rPr>
              <a:t>Advancements in chemistry increasingly depend on quick access to reliable information, efficient synthesis planning, and accurate interpretation of complex data. However, chemists often spend a significant amount of time searching through research papers, comparing reaction pathways, and performing repetitive analysis before beginning practical work. This slows down the overall research cycle and makes experimentation more demanding.</a:t>
            </a:r>
          </a:p>
          <a:p>
            <a:pPr algn="l">
              <a:lnSpc>
                <a:spcPts val="3600"/>
              </a:lnSpc>
            </a:pPr>
          </a:p>
          <a:p>
            <a:pPr algn="l">
              <a:lnSpc>
                <a:spcPts val="3600"/>
              </a:lnSpc>
            </a:pPr>
            <a:r>
              <a:rPr lang="en-US" sz="3000">
                <a:solidFill>
                  <a:srgbClr val="000000"/>
                </a:solidFill>
                <a:latin typeface="Times New Roman"/>
                <a:ea typeface="Times New Roman"/>
                <a:cs typeface="Times New Roman"/>
                <a:sym typeface="Times New Roman"/>
              </a:rPr>
              <a:t>Chemora is being developed to address these challenges by providing an intelligent AI companion that assists throughout the research workflow. Instead of manually navigating multiple sources, researchers can rely on Chemora to understand queries, analyze chemical information, and support informed decision-making. With its agent-based design and ability to handle tasks like literature search, synthesis exploration, and safety evaluation, Chemora aims to create a smoother, faster, and more organized research experience for chemists. It also helps reduce human errors by standardizing data interpretation and ensures greater reproducibility through structured protocol generation. In addition, Chemora provides a user-friendly interface that makes complex chemical insights accessible even to early-stage researchers, improving overall usability and learning.</a:t>
            </a:r>
          </a:p>
          <a:p>
            <a:pPr algn="l">
              <a:lnSpc>
                <a:spcPts val="36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05949"/>
            <a:ext cx="4114800" cy="576264"/>
            <a:chOff x="0" y="0"/>
            <a:chExt cx="5486400" cy="768351"/>
          </a:xfrm>
        </p:grpSpPr>
        <p:sp>
          <p:nvSpPr>
            <p:cNvPr name="Freeform 8" id="8"/>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9" id="9"/>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64498"/>
            <a:ext cx="2857500" cy="576264"/>
            <a:chOff x="0" y="0"/>
            <a:chExt cx="3810000" cy="768351"/>
          </a:xfrm>
        </p:grpSpPr>
        <p:sp>
          <p:nvSpPr>
            <p:cNvPr name="Freeform 11" id="11"/>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2" id="12"/>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05949"/>
            <a:ext cx="4114800" cy="576264"/>
            <a:chOff x="0" y="0"/>
            <a:chExt cx="5486400" cy="768351"/>
          </a:xfrm>
        </p:grpSpPr>
        <p:sp>
          <p:nvSpPr>
            <p:cNvPr name="Freeform 14" id="14"/>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5" id="15"/>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4</a:t>
              </a:r>
            </a:p>
          </p:txBody>
        </p:sp>
      </p:grpSp>
      <p:sp>
        <p:nvSpPr>
          <p:cNvPr name="TextBox 16" id="16"/>
          <p:cNvSpPr txBox="true"/>
          <p:nvPr/>
        </p:nvSpPr>
        <p:spPr>
          <a:xfrm rot="0">
            <a:off x="926710" y="1014594"/>
            <a:ext cx="14676117" cy="2012115"/>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Objective:</a:t>
            </a:r>
          </a:p>
        </p:txBody>
      </p:sp>
      <p:sp>
        <p:nvSpPr>
          <p:cNvPr name="TextBox 17" id="17"/>
          <p:cNvSpPr txBox="true"/>
          <p:nvPr/>
        </p:nvSpPr>
        <p:spPr>
          <a:xfrm rot="0">
            <a:off x="1041888" y="2381250"/>
            <a:ext cx="15773400" cy="6877050"/>
          </a:xfrm>
          <a:prstGeom prst="rect">
            <a:avLst/>
          </a:prstGeom>
        </p:spPr>
        <p:txBody>
          <a:bodyPr anchor="t" rtlCol="false" tIns="0" lIns="0" bIns="0" rIns="0">
            <a:spAutoFit/>
          </a:bodyPr>
          <a:lstStyle/>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To design an AI-driven system that automates routine chemical research tasks, reducing repetitive manual work and enabling faster information processing.</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To retrieve accurate literature and reaction data according to user queries, ensuring access to reliable, verified, and relevant chemical information.</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To generate feasible and efficient synthesis routes through intelligent agent collaboration, analyzing known reaction patterns and chemical relationships.</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To evaluate safety risks and promote responsible chemical planning, identifying hazardous reagents, unsafe conditions, and potential regulatory issues.</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To provide structured and easy-to-follow experimental protocols, converting synthesis plans into clear step-by-step procedures.</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To improve overall research efficiency by delivering fast, data-driven insights, reducing the manual workload and speeding up the research cycle.</a:t>
            </a:r>
          </a:p>
          <a:p>
            <a:pPr algn="l" marL="1225550" indent="-306387" lvl="3">
              <a:lnSpc>
                <a:spcPts val="30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sp>
        <p:nvSpPr>
          <p:cNvPr name="TextBox 7" id="7"/>
          <p:cNvSpPr txBox="true"/>
          <p:nvPr/>
        </p:nvSpPr>
        <p:spPr>
          <a:xfrm rot="0">
            <a:off x="926710" y="1014594"/>
            <a:ext cx="14676117" cy="2012115"/>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Problem Statement:</a:t>
            </a:r>
          </a:p>
        </p:txBody>
      </p:sp>
      <p:grpSp>
        <p:nvGrpSpPr>
          <p:cNvPr name="Group 8" id="8"/>
          <p:cNvGrpSpPr/>
          <p:nvPr/>
        </p:nvGrpSpPr>
        <p:grpSpPr>
          <a:xfrm rot="0">
            <a:off x="1257300" y="9505949"/>
            <a:ext cx="4114800" cy="576264"/>
            <a:chOff x="0" y="0"/>
            <a:chExt cx="5486400" cy="768351"/>
          </a:xfrm>
        </p:grpSpPr>
        <p:sp>
          <p:nvSpPr>
            <p:cNvPr name="Freeform 9" id="9"/>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0" id="10"/>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1" id="11"/>
          <p:cNvGrpSpPr/>
          <p:nvPr/>
        </p:nvGrpSpPr>
        <p:grpSpPr>
          <a:xfrm rot="0">
            <a:off x="12915900" y="9505949"/>
            <a:ext cx="4114800" cy="576264"/>
            <a:chOff x="0" y="0"/>
            <a:chExt cx="5486400" cy="768351"/>
          </a:xfrm>
        </p:grpSpPr>
        <p:sp>
          <p:nvSpPr>
            <p:cNvPr name="Freeform 12" id="12"/>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3" id="13"/>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5</a:t>
              </a:r>
            </a:p>
          </p:txBody>
        </p:sp>
      </p:grpSp>
      <p:grpSp>
        <p:nvGrpSpPr>
          <p:cNvPr name="Group 14" id="14"/>
          <p:cNvGrpSpPr/>
          <p:nvPr/>
        </p:nvGrpSpPr>
        <p:grpSpPr>
          <a:xfrm rot="0">
            <a:off x="7499838" y="9464498"/>
            <a:ext cx="2857500" cy="576264"/>
            <a:chOff x="0" y="0"/>
            <a:chExt cx="3810000" cy="768351"/>
          </a:xfrm>
        </p:grpSpPr>
        <p:sp>
          <p:nvSpPr>
            <p:cNvPr name="Freeform 15" id="15"/>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6" id="16"/>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7" id="17"/>
          <p:cNvSpPr txBox="true"/>
          <p:nvPr/>
        </p:nvSpPr>
        <p:spPr>
          <a:xfrm rot="0">
            <a:off x="1257300" y="2595773"/>
            <a:ext cx="15782954" cy="5257800"/>
          </a:xfrm>
          <a:prstGeom prst="rect">
            <a:avLst/>
          </a:prstGeom>
        </p:spPr>
        <p:txBody>
          <a:bodyPr anchor="t" rtlCol="false" tIns="0" lIns="0" bIns="0" rIns="0">
            <a:spAutoFit/>
          </a:bodyPr>
          <a:lstStyle/>
          <a:p>
            <a:pPr algn="l">
              <a:lnSpc>
                <a:spcPts val="4500"/>
              </a:lnSpc>
            </a:pPr>
            <a:r>
              <a:rPr lang="en-US" sz="3000">
                <a:solidFill>
                  <a:srgbClr val="000000"/>
                </a:solidFill>
                <a:latin typeface="Times New Roman"/>
                <a:ea typeface="Times New Roman"/>
                <a:cs typeface="Times New Roman"/>
                <a:sym typeface="Times New Roman"/>
              </a:rPr>
              <a:t>Chemical research involves extensive manual effort, requiring chemists to search literature, verify reaction data, compare synthesis options, and assess safety risks across multiple disconnected sources. This process is slow, repetitive, and often leads to inconsistencies or human errors. Existing tools for chemical analysis are fragmented, forcing researchers to rely on multiple platforms and time-consuming cross-referencing. As a result, valuable research time is spent on information gathering rather than experimental innovation. The lack of an integrated, intelligent system limits efficiency, reproducibility, and decision-making accuracy. There is a clear need for a unified solution that can automate routine tasks and deliver reliable chemical insights. Chemora aims to address this challenge by offering an AI-powered platform that streamlines and enhances the entire research workflow.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05949"/>
            <a:ext cx="4114800" cy="576264"/>
            <a:chOff x="0" y="0"/>
            <a:chExt cx="5486400" cy="768351"/>
          </a:xfrm>
        </p:grpSpPr>
        <p:sp>
          <p:nvSpPr>
            <p:cNvPr name="Freeform 8" id="8"/>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9" id="9"/>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05949"/>
            <a:ext cx="4114800" cy="576264"/>
            <a:chOff x="0" y="0"/>
            <a:chExt cx="5486400" cy="768351"/>
          </a:xfrm>
        </p:grpSpPr>
        <p:sp>
          <p:nvSpPr>
            <p:cNvPr name="Freeform 11" id="11"/>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2" id="12"/>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6</a:t>
              </a:r>
            </a:p>
          </p:txBody>
        </p:sp>
      </p:grpSp>
      <p:grpSp>
        <p:nvGrpSpPr>
          <p:cNvPr name="Group 13" id="13"/>
          <p:cNvGrpSpPr/>
          <p:nvPr/>
        </p:nvGrpSpPr>
        <p:grpSpPr>
          <a:xfrm rot="0">
            <a:off x="7499838" y="9464498"/>
            <a:ext cx="2857500" cy="576264"/>
            <a:chOff x="0" y="0"/>
            <a:chExt cx="3810000" cy="768351"/>
          </a:xfrm>
        </p:grpSpPr>
        <p:sp>
          <p:nvSpPr>
            <p:cNvPr name="Freeform 14" id="14"/>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5" id="15"/>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6" id="16"/>
          <p:cNvSpPr txBox="true"/>
          <p:nvPr/>
        </p:nvSpPr>
        <p:spPr>
          <a:xfrm rot="0">
            <a:off x="838786" y="1243197"/>
            <a:ext cx="14676117" cy="2012115"/>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Existing system &amp; drawbacks:</a:t>
            </a:r>
          </a:p>
        </p:txBody>
      </p:sp>
      <p:sp>
        <p:nvSpPr>
          <p:cNvPr name="TextBox 17" id="17"/>
          <p:cNvSpPr txBox="true"/>
          <p:nvPr/>
        </p:nvSpPr>
        <p:spPr>
          <a:xfrm rot="0">
            <a:off x="809671" y="2479945"/>
            <a:ext cx="16002000" cy="6877050"/>
          </a:xfrm>
          <a:prstGeom prst="rect">
            <a:avLst/>
          </a:prstGeom>
        </p:spPr>
        <p:txBody>
          <a:bodyPr anchor="t" rtlCol="false" tIns="0" lIns="0" bIns="0" rIns="0">
            <a:spAutoFit/>
          </a:bodyPr>
          <a:lstStyle/>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Existing tools like ChemAIRS and SYNTHIA focus mainly on retrosynthesis, leaving other research steps unsupported. This forces chemists to depend on multiple disconnected platforms.</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AI–robotic systems such as IBM RoboRXN still require human supervision for safety and validation. This limits true automation and reduces researcher confidence.</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LLM-based frameworks like LLM-RDF demand high compute and expert knowledge. Their complexity makes them difficult for beginners or small laboratories to use.</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Many systems perform poorly with novel molecules due to limited training data. Their predictions weaken when exploring new or unfamiliar chemical spaces.</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Most existing tools lack transparency and provenance tracking, giving results without clear justification. This leads to manual double-checking and slows workflow efficiency.</a:t>
            </a:r>
          </a:p>
          <a:p>
            <a:pPr algn="l" marL="1225550" indent="-306387" lvl="3">
              <a:lnSpc>
                <a:spcPts val="3000"/>
              </a:lnSpc>
            </a:pPr>
          </a:p>
          <a:p>
            <a:pPr algn="l" marL="1225550" indent="-306387" lvl="3">
              <a:lnSpc>
                <a:spcPts val="3000"/>
              </a:lnSpc>
              <a:buFont typeface="Arial"/>
              <a:buChar char="￭"/>
            </a:pPr>
            <a:r>
              <a:rPr lang="en-US" sz="3000">
                <a:solidFill>
                  <a:srgbClr val="000000"/>
                </a:solidFill>
                <a:latin typeface="Times New Roman"/>
                <a:ea typeface="Times New Roman"/>
                <a:cs typeface="Times New Roman"/>
                <a:sym typeface="Times New Roman"/>
              </a:rPr>
              <a:t>Platforms are often fragmented, requiring chemists to switch between various tools and databases. This disjointed process increases effort, time, and chances of human error.</a:t>
            </a:r>
          </a:p>
          <a:p>
            <a:pPr algn="l" marL="1225550" indent="-306387" lvl="3">
              <a:lnSpc>
                <a:spcPts val="30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05949"/>
            <a:ext cx="4114800" cy="576264"/>
            <a:chOff x="0" y="0"/>
            <a:chExt cx="5486400" cy="768351"/>
          </a:xfrm>
        </p:grpSpPr>
        <p:sp>
          <p:nvSpPr>
            <p:cNvPr name="Freeform 8" id="8"/>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9" id="9"/>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05949"/>
            <a:ext cx="4114800" cy="576264"/>
            <a:chOff x="0" y="0"/>
            <a:chExt cx="5486400" cy="768351"/>
          </a:xfrm>
        </p:grpSpPr>
        <p:sp>
          <p:nvSpPr>
            <p:cNvPr name="Freeform 11" id="11"/>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2" id="12"/>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8</a:t>
              </a:r>
            </a:p>
          </p:txBody>
        </p:sp>
      </p:grpSp>
      <p:grpSp>
        <p:nvGrpSpPr>
          <p:cNvPr name="Group 13" id="13"/>
          <p:cNvGrpSpPr/>
          <p:nvPr/>
        </p:nvGrpSpPr>
        <p:grpSpPr>
          <a:xfrm rot="0">
            <a:off x="7499838" y="9464498"/>
            <a:ext cx="2857500" cy="576264"/>
            <a:chOff x="0" y="0"/>
            <a:chExt cx="3810000" cy="768351"/>
          </a:xfrm>
        </p:grpSpPr>
        <p:sp>
          <p:nvSpPr>
            <p:cNvPr name="Freeform 14" id="14"/>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5" id="15"/>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aphicFrame>
        <p:nvGraphicFramePr>
          <p:cNvPr name="Object 16" id="16"/>
          <p:cNvGraphicFramePr/>
          <p:nvPr/>
        </p:nvGraphicFramePr>
        <p:xfrm>
          <a:off x="926710" y="1943853"/>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7" id="17"/>
          <p:cNvSpPr txBox="true"/>
          <p:nvPr/>
        </p:nvSpPr>
        <p:spPr>
          <a:xfrm rot="0">
            <a:off x="926710" y="1014594"/>
            <a:ext cx="14676117" cy="929259"/>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Literature Review: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sp>
        <p:nvSpPr>
          <p:cNvPr name="TextBox 7" id="7"/>
          <p:cNvSpPr txBox="true"/>
          <p:nvPr/>
        </p:nvSpPr>
        <p:spPr>
          <a:xfrm rot="0">
            <a:off x="944295" y="1260782"/>
            <a:ext cx="6771834" cy="979500"/>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Proposed Solution:</a:t>
            </a:r>
          </a:p>
        </p:txBody>
      </p:sp>
      <p:grpSp>
        <p:nvGrpSpPr>
          <p:cNvPr name="Group 8" id="8"/>
          <p:cNvGrpSpPr/>
          <p:nvPr/>
        </p:nvGrpSpPr>
        <p:grpSpPr>
          <a:xfrm rot="0">
            <a:off x="1257300" y="9505949"/>
            <a:ext cx="4114800" cy="576264"/>
            <a:chOff x="0" y="0"/>
            <a:chExt cx="5486400" cy="768351"/>
          </a:xfrm>
        </p:grpSpPr>
        <p:sp>
          <p:nvSpPr>
            <p:cNvPr name="Freeform 9" id="9"/>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0" id="10"/>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1" id="11"/>
          <p:cNvGrpSpPr/>
          <p:nvPr/>
        </p:nvGrpSpPr>
        <p:grpSpPr>
          <a:xfrm rot="0">
            <a:off x="12915900" y="9505949"/>
            <a:ext cx="4114800" cy="576264"/>
            <a:chOff x="0" y="0"/>
            <a:chExt cx="5486400" cy="768351"/>
          </a:xfrm>
        </p:grpSpPr>
        <p:sp>
          <p:nvSpPr>
            <p:cNvPr name="Freeform 12" id="12"/>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3" id="13"/>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9</a:t>
              </a:r>
            </a:p>
          </p:txBody>
        </p:sp>
      </p:grpSp>
      <p:grpSp>
        <p:nvGrpSpPr>
          <p:cNvPr name="Group 14" id="14"/>
          <p:cNvGrpSpPr/>
          <p:nvPr/>
        </p:nvGrpSpPr>
        <p:grpSpPr>
          <a:xfrm rot="0">
            <a:off x="7499838" y="9464498"/>
            <a:ext cx="2857500" cy="576264"/>
            <a:chOff x="0" y="0"/>
            <a:chExt cx="3810000" cy="768351"/>
          </a:xfrm>
        </p:grpSpPr>
        <p:sp>
          <p:nvSpPr>
            <p:cNvPr name="Freeform 15" id="15"/>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6" id="16"/>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7" id="17"/>
          <p:cNvSpPr txBox="true"/>
          <p:nvPr/>
        </p:nvSpPr>
        <p:spPr>
          <a:xfrm rot="0">
            <a:off x="871360" y="2449584"/>
            <a:ext cx="16387940" cy="6877050"/>
          </a:xfrm>
          <a:prstGeom prst="rect">
            <a:avLst/>
          </a:prstGeom>
        </p:spPr>
        <p:txBody>
          <a:bodyPr anchor="t" rtlCol="false" tIns="0" lIns="0" bIns="0" rIns="0">
            <a:spAutoFit/>
          </a:bodyPr>
          <a:lstStyle/>
          <a:p>
            <a:pPr algn="l" marL="819150" indent="-204788" lvl="3">
              <a:lnSpc>
                <a:spcPts val="3000"/>
              </a:lnSpc>
              <a:buFont typeface="Arial"/>
              <a:buChar char="￭"/>
            </a:pPr>
            <a:r>
              <a:rPr lang="en-US" sz="3000">
                <a:solidFill>
                  <a:srgbClr val="000000"/>
                </a:solidFill>
                <a:latin typeface="Times New Roman"/>
                <a:ea typeface="Times New Roman"/>
                <a:cs typeface="Times New Roman"/>
                <a:sym typeface="Times New Roman"/>
              </a:rPr>
              <a:t>To develop a unified AI platform that integrates literature search, synthesis planning, safety checks, and protocol generation. This eliminates the need to switch between multiple disconnected tools.</a:t>
            </a:r>
          </a:p>
          <a:p>
            <a:pPr algn="l" marL="819150" indent="-204788" lvl="3">
              <a:lnSpc>
                <a:spcPts val="3000"/>
              </a:lnSpc>
            </a:pPr>
          </a:p>
          <a:p>
            <a:pPr algn="l" marL="819150" indent="-204788" lvl="3">
              <a:lnSpc>
                <a:spcPts val="3000"/>
              </a:lnSpc>
              <a:buFont typeface="Arial"/>
              <a:buChar char="￭"/>
            </a:pPr>
            <a:r>
              <a:rPr lang="en-US" sz="3000">
                <a:solidFill>
                  <a:srgbClr val="000000"/>
                </a:solidFill>
                <a:latin typeface="Times New Roman"/>
                <a:ea typeface="Times New Roman"/>
                <a:cs typeface="Times New Roman"/>
                <a:sym typeface="Times New Roman"/>
              </a:rPr>
              <a:t>To use intelligent agents that collaborate to analyze data, interpret queries, and produce reliable outputs. This structured approach improves accuracy and workflow clarity.</a:t>
            </a:r>
          </a:p>
          <a:p>
            <a:pPr algn="l" marL="819150" indent="-204788" lvl="3">
              <a:lnSpc>
                <a:spcPts val="3000"/>
              </a:lnSpc>
            </a:pPr>
          </a:p>
          <a:p>
            <a:pPr algn="l" marL="819150" indent="-204788" lvl="3">
              <a:lnSpc>
                <a:spcPts val="3000"/>
              </a:lnSpc>
              <a:buFont typeface="Arial"/>
              <a:buChar char="￭"/>
            </a:pPr>
            <a:r>
              <a:rPr lang="en-US" sz="3000">
                <a:solidFill>
                  <a:srgbClr val="000000"/>
                </a:solidFill>
                <a:latin typeface="Times New Roman"/>
                <a:ea typeface="Times New Roman"/>
                <a:cs typeface="Times New Roman"/>
                <a:sym typeface="Times New Roman"/>
              </a:rPr>
              <a:t>To implement a central orchestrator that manages agent communication and ensures consistent, interpretable results. This enhances system transparency and user trust.</a:t>
            </a:r>
          </a:p>
          <a:p>
            <a:pPr algn="l" marL="819150" indent="-204788" lvl="3">
              <a:lnSpc>
                <a:spcPts val="3000"/>
              </a:lnSpc>
            </a:pPr>
          </a:p>
          <a:p>
            <a:pPr algn="l" marL="819150" indent="-204788" lvl="3">
              <a:lnSpc>
                <a:spcPts val="3000"/>
              </a:lnSpc>
              <a:buFont typeface="Arial"/>
              <a:buChar char="￭"/>
            </a:pPr>
            <a:r>
              <a:rPr lang="en-US" sz="3000">
                <a:solidFill>
                  <a:srgbClr val="000000"/>
                </a:solidFill>
                <a:latin typeface="Times New Roman"/>
                <a:ea typeface="Times New Roman"/>
                <a:cs typeface="Times New Roman"/>
                <a:sym typeface="Times New Roman"/>
              </a:rPr>
              <a:t>To incorporate cheminformatics and chemical databases for precise reaction analysis and synthesis prediction. This supports faster and more informed experimental planning.</a:t>
            </a:r>
          </a:p>
          <a:p>
            <a:pPr algn="l" marL="819150" indent="-204788" lvl="3">
              <a:lnSpc>
                <a:spcPts val="3000"/>
              </a:lnSpc>
            </a:pPr>
          </a:p>
          <a:p>
            <a:pPr algn="l" marL="819150" indent="-204788" lvl="3">
              <a:lnSpc>
                <a:spcPts val="3000"/>
              </a:lnSpc>
              <a:buFont typeface="Arial"/>
              <a:buChar char="￭"/>
            </a:pPr>
            <a:r>
              <a:rPr lang="en-US" sz="3000">
                <a:solidFill>
                  <a:srgbClr val="000000"/>
                </a:solidFill>
                <a:latin typeface="Times New Roman"/>
                <a:ea typeface="Times New Roman"/>
                <a:cs typeface="Times New Roman"/>
                <a:sym typeface="Times New Roman"/>
              </a:rPr>
              <a:t>To generate clear, step-by-step experimental protocols based on selected synthesis routes. This improves reproducibility and reduces manual documentation effort.</a:t>
            </a:r>
          </a:p>
          <a:p>
            <a:pPr algn="l" marL="819150" indent="-204788" lvl="3">
              <a:lnSpc>
                <a:spcPts val="3000"/>
              </a:lnSpc>
            </a:pPr>
          </a:p>
          <a:p>
            <a:pPr algn="l" marL="819154" indent="-204788" lvl="3">
              <a:lnSpc>
                <a:spcPts val="3000"/>
              </a:lnSpc>
              <a:buFont typeface="Arial"/>
              <a:buChar char="￭"/>
            </a:pPr>
            <a:r>
              <a:rPr lang="en-US" sz="3000">
                <a:solidFill>
                  <a:srgbClr val="000000"/>
                </a:solidFill>
                <a:latin typeface="Times New Roman"/>
                <a:ea typeface="Times New Roman"/>
                <a:cs typeface="Times New Roman"/>
                <a:sym typeface="Times New Roman"/>
              </a:rPr>
              <a:t>To provide a single, integrated environment that reduces researcher workload and accelerates the overall research cycle. This makes chemical investigation more efficient and accessible.</a:t>
            </a:r>
          </a:p>
          <a:p>
            <a:pPr algn="l" marL="819154" indent="-204788" lvl="3">
              <a:lnSpc>
                <a:spcPts val="30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3"/>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05949"/>
            <a:ext cx="4114800" cy="576264"/>
            <a:chOff x="0" y="0"/>
            <a:chExt cx="5486400" cy="768351"/>
          </a:xfrm>
        </p:grpSpPr>
        <p:sp>
          <p:nvSpPr>
            <p:cNvPr name="Freeform 8" id="8"/>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9" id="9"/>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05949"/>
            <a:ext cx="4114800" cy="576264"/>
            <a:chOff x="0" y="0"/>
            <a:chExt cx="5486400" cy="768351"/>
          </a:xfrm>
        </p:grpSpPr>
        <p:sp>
          <p:nvSpPr>
            <p:cNvPr name="Freeform 11" id="11"/>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2" id="12"/>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10</a:t>
              </a:r>
            </a:p>
          </p:txBody>
        </p:sp>
      </p:grpSp>
      <p:grpSp>
        <p:nvGrpSpPr>
          <p:cNvPr name="Group 13" id="13"/>
          <p:cNvGrpSpPr/>
          <p:nvPr/>
        </p:nvGrpSpPr>
        <p:grpSpPr>
          <a:xfrm rot="0">
            <a:off x="7499838" y="9464498"/>
            <a:ext cx="2857500" cy="576264"/>
            <a:chOff x="0" y="0"/>
            <a:chExt cx="3810000" cy="768351"/>
          </a:xfrm>
        </p:grpSpPr>
        <p:sp>
          <p:nvSpPr>
            <p:cNvPr name="Freeform 14" id="14"/>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5" id="15"/>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6" id="16"/>
          <p:cNvSpPr txBox="true"/>
          <p:nvPr/>
        </p:nvSpPr>
        <p:spPr>
          <a:xfrm rot="0">
            <a:off x="926710" y="1067348"/>
            <a:ext cx="14676117" cy="2012115"/>
          </a:xfrm>
          <a:prstGeom prst="rect">
            <a:avLst/>
          </a:prstGeom>
        </p:spPr>
        <p:txBody>
          <a:bodyPr anchor="t" rtlCol="false" tIns="0" lIns="0" bIns="0" rIns="0">
            <a:spAutoFit/>
          </a:bodyPr>
          <a:lstStyle/>
          <a:p>
            <a:pPr algn="just">
              <a:lnSpc>
                <a:spcPts val="7128"/>
              </a:lnSpc>
            </a:pPr>
            <a:r>
              <a:rPr lang="en-US" sz="6600">
                <a:solidFill>
                  <a:srgbClr val="000000"/>
                </a:solidFill>
                <a:latin typeface="Times New Roman"/>
                <a:ea typeface="Times New Roman"/>
                <a:cs typeface="Times New Roman"/>
                <a:sym typeface="Times New Roman"/>
              </a:rPr>
              <a:t>System Requirements:</a:t>
            </a:r>
          </a:p>
        </p:txBody>
      </p:sp>
      <p:sp>
        <p:nvSpPr>
          <p:cNvPr name="TextBox 17" id="17"/>
          <p:cNvSpPr txBox="true"/>
          <p:nvPr/>
        </p:nvSpPr>
        <p:spPr>
          <a:xfrm rot="0">
            <a:off x="1813332" y="2073406"/>
            <a:ext cx="14998339" cy="8631432"/>
          </a:xfrm>
          <a:prstGeom prst="rect">
            <a:avLst/>
          </a:prstGeom>
        </p:spPr>
        <p:txBody>
          <a:bodyPr anchor="t" rtlCol="false" tIns="0" lIns="0" bIns="0" rIns="0">
            <a:spAutoFit/>
          </a:bodyPr>
          <a:lstStyle/>
          <a:p>
            <a:pPr algn="just">
              <a:lnSpc>
                <a:spcPts val="4319"/>
              </a:lnSpc>
            </a:pPr>
            <a:r>
              <a:rPr lang="en-US" sz="3999">
                <a:solidFill>
                  <a:srgbClr val="000000"/>
                </a:solidFill>
                <a:latin typeface="Times New Roman"/>
                <a:ea typeface="Times New Roman"/>
                <a:cs typeface="Times New Roman"/>
                <a:sym typeface="Times New Roman"/>
              </a:rPr>
              <a:t>Software Requirements:</a:t>
            </a:r>
          </a:p>
          <a:p>
            <a:pPr algn="just" marL="819150" indent="-204788" lvl="3">
              <a:lnSpc>
                <a:spcPts val="3600"/>
              </a:lnSpc>
              <a:buFont typeface="Arial"/>
              <a:buChar char="￭"/>
            </a:pPr>
            <a:r>
              <a:rPr lang="en-US" sz="3000">
                <a:solidFill>
                  <a:srgbClr val="000000"/>
                </a:solidFill>
                <a:latin typeface="Times New Roman"/>
                <a:ea typeface="Times New Roman"/>
                <a:cs typeface="Times New Roman"/>
                <a:sym typeface="Times New Roman"/>
              </a:rPr>
              <a:t>Python 3.10+</a:t>
            </a:r>
          </a:p>
          <a:p>
            <a:pPr algn="just" marL="819150" indent="-204788" lvl="3">
              <a:lnSpc>
                <a:spcPts val="3600"/>
              </a:lnSpc>
              <a:buFont typeface="Arial"/>
              <a:buChar char="￭"/>
            </a:pPr>
            <a:r>
              <a:rPr lang="en-US" sz="3000">
                <a:solidFill>
                  <a:srgbClr val="000000"/>
                </a:solidFill>
                <a:latin typeface="Times New Roman"/>
                <a:ea typeface="Times New Roman"/>
                <a:cs typeface="Times New Roman"/>
                <a:sym typeface="Times New Roman"/>
              </a:rPr>
              <a:t>FastAPI (backend)</a:t>
            </a:r>
          </a:p>
          <a:p>
            <a:pPr algn="just" marL="819150" indent="-204788" lvl="3">
              <a:lnSpc>
                <a:spcPts val="3600"/>
              </a:lnSpc>
              <a:buFont typeface="Arial"/>
              <a:buChar char="￭"/>
            </a:pPr>
            <a:r>
              <a:rPr lang="en-US" sz="3000">
                <a:solidFill>
                  <a:srgbClr val="000000"/>
                </a:solidFill>
                <a:latin typeface="Times New Roman"/>
                <a:ea typeface="Times New Roman"/>
                <a:cs typeface="Times New Roman"/>
                <a:sym typeface="Times New Roman"/>
              </a:rPr>
              <a:t>RDKit (cheminformatics)</a:t>
            </a:r>
          </a:p>
          <a:p>
            <a:pPr algn="just" marL="819151" indent="-204788" lvl="3">
              <a:lnSpc>
                <a:spcPts val="3600"/>
              </a:lnSpc>
              <a:buFont typeface="Arial"/>
              <a:buChar char="￭"/>
            </a:pPr>
            <a:r>
              <a:rPr lang="en-US" sz="3000">
                <a:solidFill>
                  <a:srgbClr val="000000"/>
                </a:solidFill>
                <a:latin typeface="Times New Roman"/>
                <a:ea typeface="Times New Roman"/>
                <a:cs typeface="Times New Roman"/>
                <a:sym typeface="Times New Roman"/>
              </a:rPr>
              <a:t>PostgreSQL (database)</a:t>
            </a:r>
          </a:p>
          <a:p>
            <a:pPr algn="just" marL="819150" indent="-204788" lvl="3">
              <a:lnSpc>
                <a:spcPts val="3600"/>
              </a:lnSpc>
              <a:buFont typeface="Arial"/>
              <a:buChar char="￭"/>
            </a:pPr>
            <a:r>
              <a:rPr lang="en-US" sz="3000">
                <a:solidFill>
                  <a:srgbClr val="000000"/>
                </a:solidFill>
                <a:latin typeface="Times New Roman"/>
                <a:ea typeface="Times New Roman"/>
                <a:cs typeface="Times New Roman"/>
                <a:sym typeface="Times New Roman"/>
              </a:rPr>
              <a:t>Vector DB: Qdrant or Pinecone</a:t>
            </a:r>
          </a:p>
          <a:p>
            <a:pPr algn="just" marL="819150" indent="-204788" lvl="3">
              <a:lnSpc>
                <a:spcPts val="3600"/>
              </a:lnSpc>
              <a:buFont typeface="Arial"/>
              <a:buChar char="￭"/>
            </a:pPr>
            <a:r>
              <a:rPr lang="en-US" sz="3000">
                <a:solidFill>
                  <a:srgbClr val="000000"/>
                </a:solidFill>
                <a:latin typeface="Times New Roman"/>
                <a:ea typeface="Times New Roman"/>
                <a:cs typeface="Times New Roman"/>
                <a:sym typeface="Times New Roman"/>
              </a:rPr>
              <a:t>PyTorch (ML/AI models)</a:t>
            </a:r>
          </a:p>
          <a:p>
            <a:pPr algn="just" marL="819151" indent="-204788" lvl="3">
              <a:lnSpc>
                <a:spcPts val="3600"/>
              </a:lnSpc>
              <a:buFont typeface="Arial"/>
              <a:buChar char="￭"/>
            </a:pPr>
            <a:r>
              <a:rPr lang="en-US" sz="3000">
                <a:solidFill>
                  <a:srgbClr val="000000"/>
                </a:solidFill>
                <a:latin typeface="Times New Roman"/>
                <a:ea typeface="Times New Roman"/>
                <a:cs typeface="Times New Roman"/>
                <a:sym typeface="Times New Roman"/>
              </a:rPr>
              <a:t>Docker (deployment)</a:t>
            </a:r>
          </a:p>
          <a:p>
            <a:pPr algn="just" marL="819150" indent="-204788" lvl="3">
              <a:lnSpc>
                <a:spcPts val="3600"/>
              </a:lnSpc>
              <a:buFont typeface="Arial"/>
              <a:buChar char="￭"/>
            </a:pPr>
            <a:r>
              <a:rPr lang="en-US" sz="3000">
                <a:solidFill>
                  <a:srgbClr val="000000"/>
                </a:solidFill>
                <a:latin typeface="Times New Roman"/>
                <a:ea typeface="Times New Roman"/>
                <a:cs typeface="Times New Roman"/>
                <a:sym typeface="Times New Roman"/>
              </a:rPr>
              <a:t>Git (version control)</a:t>
            </a:r>
          </a:p>
          <a:p>
            <a:pPr algn="just" marL="1091927" indent="-272982" lvl="3">
              <a:lnSpc>
                <a:spcPts val="4319"/>
              </a:lnSpc>
            </a:pPr>
            <a:r>
              <a:rPr lang="en-US" sz="3999">
                <a:solidFill>
                  <a:srgbClr val="000000"/>
                </a:solidFill>
                <a:latin typeface="Times New Roman"/>
                <a:ea typeface="Times New Roman"/>
                <a:cs typeface="Times New Roman"/>
                <a:sym typeface="Times New Roman"/>
              </a:rPr>
              <a:t>Hardware Requirements:</a:t>
            </a:r>
          </a:p>
          <a:p>
            <a:pPr algn="just" marL="819150" indent="-204788" lvl="3">
              <a:lnSpc>
                <a:spcPts val="3900"/>
              </a:lnSpc>
              <a:buFont typeface="Arial"/>
              <a:buChar char="￭"/>
            </a:pPr>
            <a:r>
              <a:rPr lang="en-US" sz="3000">
                <a:solidFill>
                  <a:srgbClr val="000000"/>
                </a:solidFill>
                <a:latin typeface="Times New Roman"/>
                <a:ea typeface="Times New Roman"/>
                <a:cs typeface="Times New Roman"/>
                <a:sym typeface="Times New Roman"/>
              </a:rPr>
              <a:t>4–8 Core CPU</a:t>
            </a:r>
          </a:p>
          <a:p>
            <a:pPr algn="just" marL="819151" indent="-204788" lvl="3">
              <a:lnSpc>
                <a:spcPts val="3900"/>
              </a:lnSpc>
              <a:buFont typeface="Arial"/>
              <a:buChar char="￭"/>
            </a:pPr>
            <a:r>
              <a:rPr lang="en-US" sz="3000">
                <a:solidFill>
                  <a:srgbClr val="000000"/>
                </a:solidFill>
                <a:latin typeface="Times New Roman"/>
                <a:ea typeface="Times New Roman"/>
                <a:cs typeface="Times New Roman"/>
                <a:sym typeface="Times New Roman"/>
              </a:rPr>
              <a:t>16–32 GB RAM</a:t>
            </a:r>
          </a:p>
          <a:p>
            <a:pPr algn="just" marL="819151" indent="-204788" lvl="3">
              <a:lnSpc>
                <a:spcPts val="3900"/>
              </a:lnSpc>
              <a:buFont typeface="Arial"/>
              <a:buChar char="￭"/>
            </a:pPr>
            <a:r>
              <a:rPr lang="en-US" sz="3000">
                <a:solidFill>
                  <a:srgbClr val="000000"/>
                </a:solidFill>
                <a:latin typeface="Times New Roman"/>
                <a:ea typeface="Times New Roman"/>
                <a:cs typeface="Times New Roman"/>
                <a:sym typeface="Times New Roman"/>
              </a:rPr>
              <a:t>256+ GB SSD Storage</a:t>
            </a:r>
          </a:p>
          <a:p>
            <a:pPr algn="just" marL="819151" indent="-204788" lvl="3">
              <a:lnSpc>
                <a:spcPts val="3900"/>
              </a:lnSpc>
              <a:buFont typeface="Arial"/>
              <a:buChar char="￭"/>
            </a:pPr>
            <a:r>
              <a:rPr lang="en-US" sz="3000">
                <a:solidFill>
                  <a:srgbClr val="000000"/>
                </a:solidFill>
                <a:latin typeface="Times New Roman"/>
                <a:ea typeface="Times New Roman"/>
                <a:cs typeface="Times New Roman"/>
                <a:sym typeface="Times New Roman"/>
              </a:rPr>
              <a:t>Stable Internet Connection</a:t>
            </a:r>
          </a:p>
          <a:p>
            <a:pPr algn="just" marL="819151" indent="-204788" lvl="3">
              <a:lnSpc>
                <a:spcPts val="3900"/>
              </a:lnSpc>
              <a:buFont typeface="Arial"/>
              <a:buChar char="￭"/>
            </a:pPr>
            <a:r>
              <a:rPr lang="en-US" sz="3000">
                <a:solidFill>
                  <a:srgbClr val="000000"/>
                </a:solidFill>
                <a:latin typeface="Times New Roman"/>
                <a:ea typeface="Times New Roman"/>
                <a:cs typeface="Times New Roman"/>
                <a:sym typeface="Times New Roman"/>
              </a:rPr>
              <a:t>Optional GPU (NVIDIA T4/A10 for model inference)</a:t>
            </a:r>
          </a:p>
          <a:p>
            <a:pPr algn="just" marL="819151" indent="-204788" lvl="3">
              <a:lnSpc>
                <a:spcPts val="5912"/>
              </a:lnSpc>
            </a:pPr>
          </a:p>
          <a:p>
            <a:pPr algn="just" marL="819151" indent="-204788" lvl="3">
              <a:lnSpc>
                <a:spcPts val="5912"/>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4272" y="261150"/>
            <a:ext cx="1814799" cy="1243203"/>
            <a:chOff x="0" y="0"/>
            <a:chExt cx="2419732" cy="1657604"/>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0" b="0"/>
              </a:stretch>
            </a:blipFill>
          </p:spPr>
        </p:sp>
      </p:grpSp>
      <p:grpSp>
        <p:nvGrpSpPr>
          <p:cNvPr name="Group 4" id="4"/>
          <p:cNvGrpSpPr/>
          <p:nvPr/>
        </p:nvGrpSpPr>
        <p:grpSpPr>
          <a:xfrm rot="0">
            <a:off x="167054" y="175424"/>
            <a:ext cx="4633546" cy="633414"/>
            <a:chOff x="0" y="0"/>
            <a:chExt cx="6178061" cy="844551"/>
          </a:xfrm>
        </p:grpSpPr>
        <p:sp>
          <p:nvSpPr>
            <p:cNvPr name="Freeform 5" id="5"/>
            <p:cNvSpPr/>
            <p:nvPr/>
          </p:nvSpPr>
          <p:spPr>
            <a:xfrm flipH="false" flipV="false" rot="0">
              <a:off x="0" y="0"/>
              <a:ext cx="6178061" cy="844551"/>
            </a:xfrm>
            <a:custGeom>
              <a:avLst/>
              <a:gdLst/>
              <a:ahLst/>
              <a:cxnLst/>
              <a:rect r="r" b="b" t="t" l="l"/>
              <a:pathLst>
                <a:path h="844551" w="6178061">
                  <a:moveTo>
                    <a:pt x="0" y="0"/>
                  </a:moveTo>
                  <a:lnTo>
                    <a:pt x="6178061" y="0"/>
                  </a:lnTo>
                  <a:lnTo>
                    <a:pt x="6178061" y="844551"/>
                  </a:lnTo>
                  <a:lnTo>
                    <a:pt x="0" y="844551"/>
                  </a:lnTo>
                  <a:close/>
                </a:path>
              </a:pathLst>
            </a:custGeom>
            <a:solidFill>
              <a:srgbClr val="000000">
                <a:alpha val="0"/>
              </a:srgbClr>
            </a:solidFill>
          </p:spPr>
        </p:sp>
        <p:sp>
          <p:nvSpPr>
            <p:cNvPr name="TextBox 6" id="6"/>
            <p:cNvSpPr txBox="true"/>
            <p:nvPr/>
          </p:nvSpPr>
          <p:spPr>
            <a:xfrm>
              <a:off x="0" y="-57150"/>
              <a:ext cx="6178061" cy="901701"/>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05949"/>
            <a:ext cx="4114800" cy="576264"/>
            <a:chOff x="0" y="0"/>
            <a:chExt cx="5486400" cy="768351"/>
          </a:xfrm>
        </p:grpSpPr>
        <p:sp>
          <p:nvSpPr>
            <p:cNvPr name="Freeform 8" id="8"/>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9" id="9"/>
            <p:cNvSpPr txBox="true"/>
            <p:nvPr/>
          </p:nvSpPr>
          <p:spPr>
            <a:xfrm>
              <a:off x="0" y="-19050"/>
              <a:ext cx="5486400" cy="787401"/>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05949"/>
            <a:ext cx="4114800" cy="576264"/>
            <a:chOff x="0" y="0"/>
            <a:chExt cx="5486400" cy="768351"/>
          </a:xfrm>
        </p:grpSpPr>
        <p:sp>
          <p:nvSpPr>
            <p:cNvPr name="Freeform 11" id="11"/>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12" id="12"/>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11</a:t>
              </a:r>
            </a:p>
          </p:txBody>
        </p:sp>
      </p:grpSp>
      <p:grpSp>
        <p:nvGrpSpPr>
          <p:cNvPr name="Group 13" id="13"/>
          <p:cNvGrpSpPr/>
          <p:nvPr/>
        </p:nvGrpSpPr>
        <p:grpSpPr>
          <a:xfrm rot="0">
            <a:off x="7499838" y="9464498"/>
            <a:ext cx="2857500" cy="576264"/>
            <a:chOff x="0" y="0"/>
            <a:chExt cx="3810000" cy="768351"/>
          </a:xfrm>
        </p:grpSpPr>
        <p:sp>
          <p:nvSpPr>
            <p:cNvPr name="Freeform 14" id="14"/>
            <p:cNvSpPr/>
            <p:nvPr/>
          </p:nvSpPr>
          <p:spPr>
            <a:xfrm flipH="false" flipV="false" rot="0">
              <a:off x="0" y="0"/>
              <a:ext cx="3810000" cy="768351"/>
            </a:xfrm>
            <a:custGeom>
              <a:avLst/>
              <a:gdLst/>
              <a:ahLst/>
              <a:cxnLst/>
              <a:rect r="r" b="b" t="t" l="l"/>
              <a:pathLst>
                <a:path h="768351" w="3810000">
                  <a:moveTo>
                    <a:pt x="0" y="0"/>
                  </a:moveTo>
                  <a:lnTo>
                    <a:pt x="3810000" y="0"/>
                  </a:lnTo>
                  <a:lnTo>
                    <a:pt x="3810000" y="768351"/>
                  </a:lnTo>
                  <a:lnTo>
                    <a:pt x="0" y="768351"/>
                  </a:lnTo>
                  <a:close/>
                </a:path>
              </a:pathLst>
            </a:custGeom>
            <a:solidFill>
              <a:srgbClr val="000000">
                <a:alpha val="0"/>
              </a:srgbClr>
            </a:solidFill>
          </p:spPr>
        </p:sp>
        <p:sp>
          <p:nvSpPr>
            <p:cNvPr name="TextBox 15" id="15"/>
            <p:cNvSpPr txBox="true"/>
            <p:nvPr/>
          </p:nvSpPr>
          <p:spPr>
            <a:xfrm>
              <a:off x="0" y="-19050"/>
              <a:ext cx="3810000" cy="787401"/>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6" id="16"/>
          <p:cNvSpPr txBox="true"/>
          <p:nvPr/>
        </p:nvSpPr>
        <p:spPr>
          <a:xfrm rot="0">
            <a:off x="691933" y="1104900"/>
            <a:ext cx="13615810" cy="9672635"/>
          </a:xfrm>
          <a:prstGeom prst="rect">
            <a:avLst/>
          </a:prstGeom>
        </p:spPr>
        <p:txBody>
          <a:bodyPr anchor="t" rtlCol="false" tIns="0" lIns="0" bIns="0" rIns="0">
            <a:spAutoFit/>
          </a:bodyPr>
          <a:lstStyle/>
          <a:p>
            <a:pPr algn="l">
              <a:lnSpc>
                <a:spcPts val="6612"/>
              </a:lnSpc>
            </a:pPr>
            <a:r>
              <a:rPr lang="en-US" sz="6123">
                <a:solidFill>
                  <a:srgbClr val="000000"/>
                </a:solidFill>
                <a:latin typeface="Times New Roman"/>
                <a:ea typeface="Times New Roman"/>
                <a:cs typeface="Times New Roman"/>
                <a:sym typeface="Times New Roman"/>
              </a:rPr>
              <a:t>Functional Requirements:</a:t>
            </a:r>
          </a:p>
          <a:p>
            <a:pPr algn="l">
              <a:lnSpc>
                <a:spcPts val="6613"/>
              </a:lnSpc>
            </a:pP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Query Intake &amp; Parsing</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Chemical Structure Canonicalization</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Literature and Reaction Retrieval</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Retrosynthesis Planning</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Safety and Feasibility Analysis</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Route Scoring and Selection</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Protocol Generation</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Data Storage and Provenance Logging</a:t>
            </a:r>
          </a:p>
          <a:p>
            <a:pPr algn="l" marL="819150" indent="-204788" lvl="3">
              <a:lnSpc>
                <a:spcPts val="4500"/>
              </a:lnSpc>
              <a:buFont typeface="Arial"/>
              <a:buChar char="￭"/>
            </a:pPr>
            <a:r>
              <a:rPr lang="en-US" sz="3000">
                <a:solidFill>
                  <a:srgbClr val="000000"/>
                </a:solidFill>
                <a:latin typeface="Times New Roman"/>
                <a:ea typeface="Times New Roman"/>
                <a:cs typeface="Times New Roman"/>
                <a:sym typeface="Times New Roman"/>
              </a:rPr>
              <a:t>User Interface for Result Visualization</a:t>
            </a:r>
          </a:p>
          <a:p>
            <a:pPr algn="l" marL="819150" indent="-204788" lvl="3">
              <a:lnSpc>
                <a:spcPts val="4006"/>
              </a:lnSpc>
            </a:pPr>
          </a:p>
          <a:p>
            <a:pPr algn="l" marL="819150" indent="-204788" lvl="3">
              <a:lnSpc>
                <a:spcPts val="6612"/>
              </a:lnSpc>
            </a:pPr>
          </a:p>
          <a:p>
            <a:pPr algn="l" marL="819150" indent="-204788" lvl="3">
              <a:lnSpc>
                <a:spcPts val="6613"/>
              </a:lnSpc>
            </a:pPr>
          </a:p>
          <a:p>
            <a:pPr algn="l" marL="819150" indent="-204788" lvl="3">
              <a:lnSpc>
                <a:spcPts val="661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34525"/>
            <a:ext cx="4114800" cy="547688"/>
            <a:chOff x="0" y="0"/>
            <a:chExt cx="5486400" cy="730250"/>
          </a:xfrm>
        </p:grpSpPr>
        <p:sp>
          <p:nvSpPr>
            <p:cNvPr name="Freeform 11" id="1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2" id="12"/>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12</a:t>
              </a:r>
            </a:p>
          </p:txBody>
        </p:sp>
      </p:grpSp>
      <p:grpSp>
        <p:nvGrpSpPr>
          <p:cNvPr name="Group 13" id="13"/>
          <p:cNvGrpSpPr/>
          <p:nvPr/>
        </p:nvGrpSpPr>
        <p:grpSpPr>
          <a:xfrm rot="0">
            <a:off x="7499838" y="9493074"/>
            <a:ext cx="2857500" cy="547688"/>
            <a:chOff x="0" y="0"/>
            <a:chExt cx="3810000" cy="730250"/>
          </a:xfrm>
        </p:grpSpPr>
        <p:sp>
          <p:nvSpPr>
            <p:cNvPr name="Freeform 14" id="14"/>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5" id="15"/>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6" id="16"/>
          <p:cNvSpPr txBox="true"/>
          <p:nvPr/>
        </p:nvSpPr>
        <p:spPr>
          <a:xfrm rot="0">
            <a:off x="1981786" y="3470579"/>
            <a:ext cx="14676117" cy="2088315"/>
          </a:xfrm>
          <a:prstGeom prst="rect">
            <a:avLst/>
          </a:prstGeom>
        </p:spPr>
        <p:txBody>
          <a:bodyPr anchor="t" rtlCol="false" tIns="0" lIns="0" bIns="0" rIns="0">
            <a:spAutoFit/>
          </a:bodyPr>
          <a:lstStyle/>
          <a:p>
            <a:pPr algn="ctr">
              <a:lnSpc>
                <a:spcPts val="7128"/>
              </a:lnSpc>
            </a:pPr>
            <a:r>
              <a:rPr lang="en-US" sz="6600">
                <a:solidFill>
                  <a:srgbClr val="000000"/>
                </a:solidFill>
                <a:latin typeface="Times New Roman"/>
                <a:ea typeface="Times New Roman"/>
                <a:cs typeface="Times New Roman"/>
                <a:sym typeface="Times New Roman"/>
              </a:rPr>
              <a:t>System Design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34525"/>
            <a:ext cx="4114800" cy="547688"/>
            <a:chOff x="0" y="0"/>
            <a:chExt cx="5486400" cy="730250"/>
          </a:xfrm>
        </p:grpSpPr>
        <p:sp>
          <p:nvSpPr>
            <p:cNvPr name="Freeform 11" id="1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2" id="12"/>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13</a:t>
              </a:r>
            </a:p>
          </p:txBody>
        </p:sp>
      </p:grpSp>
      <p:grpSp>
        <p:nvGrpSpPr>
          <p:cNvPr name="Group 13" id="13"/>
          <p:cNvGrpSpPr/>
          <p:nvPr/>
        </p:nvGrpSpPr>
        <p:grpSpPr>
          <a:xfrm rot="0">
            <a:off x="7499838" y="9493074"/>
            <a:ext cx="2857500" cy="547688"/>
            <a:chOff x="0" y="0"/>
            <a:chExt cx="3810000" cy="730250"/>
          </a:xfrm>
        </p:grpSpPr>
        <p:sp>
          <p:nvSpPr>
            <p:cNvPr name="Freeform 14" id="14"/>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5" id="15"/>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Freeform 16" id="16"/>
          <p:cNvSpPr/>
          <p:nvPr/>
        </p:nvSpPr>
        <p:spPr>
          <a:xfrm flipH="false" flipV="false" rot="0">
            <a:off x="7120280" y="1719428"/>
            <a:ext cx="4697146" cy="7538872"/>
          </a:xfrm>
          <a:custGeom>
            <a:avLst/>
            <a:gdLst/>
            <a:ahLst/>
            <a:cxnLst/>
            <a:rect r="r" b="b" t="t" l="l"/>
            <a:pathLst>
              <a:path h="7538872" w="4697146">
                <a:moveTo>
                  <a:pt x="0" y="0"/>
                </a:moveTo>
                <a:lnTo>
                  <a:pt x="4697145" y="0"/>
                </a:lnTo>
                <a:lnTo>
                  <a:pt x="4697145" y="7538872"/>
                </a:lnTo>
                <a:lnTo>
                  <a:pt x="0" y="7538872"/>
                </a:lnTo>
                <a:lnTo>
                  <a:pt x="0" y="0"/>
                </a:lnTo>
                <a:close/>
              </a:path>
            </a:pathLst>
          </a:custGeom>
          <a:blipFill>
            <a:blip r:embed="rId3"/>
            <a:stretch>
              <a:fillRect l="-3478" t="0" r="-3478" b="0"/>
            </a:stretch>
          </a:blipFill>
        </p:spPr>
      </p:sp>
      <p:sp>
        <p:nvSpPr>
          <p:cNvPr name="TextBox 17" id="17"/>
          <p:cNvSpPr txBox="true"/>
          <p:nvPr/>
        </p:nvSpPr>
        <p:spPr>
          <a:xfrm rot="0">
            <a:off x="1028700" y="846938"/>
            <a:ext cx="14676117" cy="872490"/>
          </a:xfrm>
          <a:prstGeom prst="rect">
            <a:avLst/>
          </a:prstGeom>
        </p:spPr>
        <p:txBody>
          <a:bodyPr anchor="t" rtlCol="false" tIns="0" lIns="0" bIns="0" rIns="0">
            <a:spAutoFit/>
          </a:bodyPr>
          <a:lstStyle/>
          <a:p>
            <a:pPr algn="l">
              <a:lnSpc>
                <a:spcPts val="6480"/>
              </a:lnSpc>
            </a:pPr>
            <a:r>
              <a:rPr lang="en-US" sz="6000">
                <a:solidFill>
                  <a:srgbClr val="000000"/>
                </a:solidFill>
                <a:latin typeface="Times New Roman"/>
                <a:ea typeface="Times New Roman"/>
                <a:cs typeface="Times New Roman"/>
                <a:sym typeface="Times New Roman"/>
              </a:rPr>
              <a:t>Overall Block Diagram: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12915900" y="9534525"/>
            <a:ext cx="4114800" cy="547688"/>
            <a:chOff x="0" y="0"/>
            <a:chExt cx="5486400" cy="730250"/>
          </a:xfrm>
        </p:grpSpPr>
        <p:sp>
          <p:nvSpPr>
            <p:cNvPr name="Freeform 11" id="1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2" id="12"/>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14</a:t>
              </a:r>
            </a:p>
          </p:txBody>
        </p:sp>
      </p:grpSp>
      <p:grpSp>
        <p:nvGrpSpPr>
          <p:cNvPr name="Group 13" id="13"/>
          <p:cNvGrpSpPr/>
          <p:nvPr/>
        </p:nvGrpSpPr>
        <p:grpSpPr>
          <a:xfrm rot="0">
            <a:off x="7499838" y="9493074"/>
            <a:ext cx="2857500" cy="547688"/>
            <a:chOff x="0" y="0"/>
            <a:chExt cx="3810000" cy="730250"/>
          </a:xfrm>
        </p:grpSpPr>
        <p:sp>
          <p:nvSpPr>
            <p:cNvPr name="Freeform 14" id="14"/>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5" id="15"/>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6" id="16"/>
          <p:cNvSpPr txBox="true"/>
          <p:nvPr/>
        </p:nvSpPr>
        <p:spPr>
          <a:xfrm rot="0">
            <a:off x="1136284" y="520792"/>
            <a:ext cx="14676117" cy="742950"/>
          </a:xfrm>
          <a:prstGeom prst="rect">
            <a:avLst/>
          </a:prstGeom>
        </p:spPr>
        <p:txBody>
          <a:bodyPr anchor="t" rtlCol="false" tIns="0" lIns="0" bIns="0" rIns="0">
            <a:spAutoFit/>
          </a:bodyPr>
          <a:lstStyle/>
          <a:p>
            <a:pPr algn="l">
              <a:lnSpc>
                <a:spcPts val="5400"/>
              </a:lnSpc>
            </a:pPr>
            <a:r>
              <a:rPr lang="en-US" sz="5000">
                <a:solidFill>
                  <a:srgbClr val="000000"/>
                </a:solidFill>
                <a:latin typeface="Times New Roman"/>
                <a:ea typeface="Times New Roman"/>
                <a:cs typeface="Times New Roman"/>
                <a:sym typeface="Times New Roman"/>
              </a:rPr>
              <a:t>Modules &amp; Modular Design:</a:t>
            </a:r>
          </a:p>
        </p:txBody>
      </p:sp>
      <p:sp>
        <p:nvSpPr>
          <p:cNvPr name="TextBox 17" id="17"/>
          <p:cNvSpPr txBox="true"/>
          <p:nvPr/>
        </p:nvSpPr>
        <p:spPr>
          <a:xfrm rot="0">
            <a:off x="801590" y="1214437"/>
            <a:ext cx="15102682" cy="8867775"/>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1. User Intent Parsing Module</a:t>
            </a:r>
          </a:p>
          <a:p>
            <a:pPr algn="l">
              <a:lnSpc>
                <a:spcPts val="2826"/>
              </a:lnSpc>
              <a:spcBef>
                <a:spcPct val="0"/>
              </a:spcBef>
            </a:pPr>
            <a:r>
              <a:rPr lang="en-US" sz="2355">
                <a:solidFill>
                  <a:srgbClr val="000000"/>
                </a:solidFill>
                <a:latin typeface="Times New Roman"/>
                <a:ea typeface="Times New Roman"/>
                <a:cs typeface="Times New Roman"/>
                <a:sym typeface="Times New Roman"/>
              </a:rPr>
              <a:t>Understands the user’s natural language query and determines the task type such as synthesis, safety analysis, or procurement.</a:t>
            </a:r>
          </a:p>
          <a:p>
            <a:pPr algn="l">
              <a:lnSpc>
                <a:spcPts val="2826"/>
              </a:lnSpc>
              <a:spcBef>
                <a:spcPct val="0"/>
              </a:spcBef>
            </a:pPr>
            <a:r>
              <a:rPr lang="en-US" sz="2355">
                <a:solidFill>
                  <a:srgbClr val="000000"/>
                </a:solidFill>
                <a:latin typeface="Times New Roman"/>
                <a:ea typeface="Times New Roman"/>
                <a:cs typeface="Times New Roman"/>
                <a:sym typeface="Times New Roman"/>
              </a:rPr>
              <a:t>Extracts the target molecule along with constraints like cost, safety, and priority for further processing.</a:t>
            </a:r>
          </a:p>
          <a:p>
            <a:pPr algn="l">
              <a:lnSpc>
                <a:spcPts val="2826"/>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2. Canonicalization Module</a:t>
            </a:r>
          </a:p>
          <a:p>
            <a:pPr algn="l">
              <a:lnSpc>
                <a:spcPts val="2826"/>
              </a:lnSpc>
              <a:spcBef>
                <a:spcPct val="0"/>
              </a:spcBef>
            </a:pPr>
            <a:r>
              <a:rPr lang="en-US" sz="2355">
                <a:solidFill>
                  <a:srgbClr val="000000"/>
                </a:solidFill>
                <a:latin typeface="Times New Roman"/>
                <a:ea typeface="Times New Roman"/>
                <a:cs typeface="Times New Roman"/>
                <a:sym typeface="Times New Roman"/>
              </a:rPr>
              <a:t>Converts chemical names into standardized molecular representations such as canonical SMILES.</a:t>
            </a:r>
          </a:p>
          <a:p>
            <a:pPr algn="l">
              <a:lnSpc>
                <a:spcPts val="2826"/>
              </a:lnSpc>
              <a:spcBef>
                <a:spcPct val="0"/>
              </a:spcBef>
            </a:pPr>
            <a:r>
              <a:rPr lang="en-US" sz="2355">
                <a:solidFill>
                  <a:srgbClr val="000000"/>
                </a:solidFill>
                <a:latin typeface="Times New Roman"/>
                <a:ea typeface="Times New Roman"/>
                <a:cs typeface="Times New Roman"/>
                <a:sym typeface="Times New Roman"/>
              </a:rPr>
              <a:t>Ensures uniform and unambiguous chemical data for all downstream agents.</a:t>
            </a:r>
          </a:p>
          <a:p>
            <a:pPr algn="l">
              <a:lnSpc>
                <a:spcPts val="2826"/>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3. Literature Retrieval Module</a:t>
            </a:r>
          </a:p>
          <a:p>
            <a:pPr algn="l">
              <a:lnSpc>
                <a:spcPts val="2826"/>
              </a:lnSpc>
              <a:spcBef>
                <a:spcPct val="0"/>
              </a:spcBef>
            </a:pPr>
            <a:r>
              <a:rPr lang="en-US" sz="2355">
                <a:solidFill>
                  <a:srgbClr val="000000"/>
                </a:solidFill>
                <a:latin typeface="Times New Roman"/>
                <a:ea typeface="Times New Roman"/>
                <a:cs typeface="Times New Roman"/>
                <a:sym typeface="Times New Roman"/>
              </a:rPr>
              <a:t>Searches scientific literature to find validated synthesis methods and reaction precedents.</a:t>
            </a:r>
          </a:p>
          <a:p>
            <a:pPr algn="l">
              <a:lnSpc>
                <a:spcPts val="2826"/>
              </a:lnSpc>
              <a:spcBef>
                <a:spcPct val="0"/>
              </a:spcBef>
            </a:pPr>
            <a:r>
              <a:rPr lang="en-US" sz="2355">
                <a:solidFill>
                  <a:srgbClr val="000000"/>
                </a:solidFill>
                <a:latin typeface="Times New Roman"/>
                <a:ea typeface="Times New Roman"/>
                <a:cs typeface="Times New Roman"/>
                <a:sym typeface="Times New Roman"/>
              </a:rPr>
              <a:t>Provides experimentally proven knowledge to support reliable route generation.</a:t>
            </a:r>
          </a:p>
          <a:p>
            <a:pPr algn="l">
              <a:lnSpc>
                <a:spcPts val="2826"/>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4. Reaction Retrieval Module</a:t>
            </a:r>
          </a:p>
          <a:p>
            <a:pPr algn="l">
              <a:lnSpc>
                <a:spcPts val="2826"/>
              </a:lnSpc>
              <a:spcBef>
                <a:spcPct val="0"/>
              </a:spcBef>
            </a:pPr>
            <a:r>
              <a:rPr lang="en-US" sz="2355">
                <a:solidFill>
                  <a:srgbClr val="000000"/>
                </a:solidFill>
                <a:latin typeface="Times New Roman"/>
                <a:ea typeface="Times New Roman"/>
                <a:cs typeface="Times New Roman"/>
                <a:sym typeface="Times New Roman"/>
              </a:rPr>
              <a:t>Identifies chemically similar reactions using structure-based similarity.</a:t>
            </a:r>
          </a:p>
          <a:p>
            <a:pPr algn="l">
              <a:lnSpc>
                <a:spcPts val="2826"/>
              </a:lnSpc>
              <a:spcBef>
                <a:spcPct val="0"/>
              </a:spcBef>
            </a:pPr>
            <a:r>
              <a:rPr lang="en-US" sz="2355">
                <a:solidFill>
                  <a:srgbClr val="000000"/>
                </a:solidFill>
                <a:latin typeface="Times New Roman"/>
                <a:ea typeface="Times New Roman"/>
                <a:cs typeface="Times New Roman"/>
                <a:sym typeface="Times New Roman"/>
              </a:rPr>
              <a:t>Supplies transformation patterns that assist retrosynthesis planning.</a:t>
            </a:r>
          </a:p>
          <a:p>
            <a:pPr algn="l">
              <a:lnSpc>
                <a:spcPts val="2826"/>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5. Retrosynthesis Planning Module</a:t>
            </a:r>
          </a:p>
          <a:p>
            <a:pPr algn="l">
              <a:lnSpc>
                <a:spcPts val="2826"/>
              </a:lnSpc>
              <a:spcBef>
                <a:spcPct val="0"/>
              </a:spcBef>
            </a:pPr>
            <a:r>
              <a:rPr lang="en-US" sz="2355">
                <a:solidFill>
                  <a:srgbClr val="000000"/>
                </a:solidFill>
                <a:latin typeface="Times New Roman"/>
                <a:ea typeface="Times New Roman"/>
                <a:cs typeface="Times New Roman"/>
                <a:sym typeface="Times New Roman"/>
              </a:rPr>
              <a:t>Generates multiple possible synthetic pathways to produce the target molecule.</a:t>
            </a:r>
          </a:p>
          <a:p>
            <a:pPr algn="l">
              <a:lnSpc>
                <a:spcPts val="2826"/>
              </a:lnSpc>
              <a:spcBef>
                <a:spcPct val="0"/>
              </a:spcBef>
            </a:pPr>
            <a:r>
              <a:rPr lang="en-US" sz="2355">
                <a:solidFill>
                  <a:srgbClr val="000000"/>
                </a:solidFill>
                <a:latin typeface="Times New Roman"/>
                <a:ea typeface="Times New Roman"/>
                <a:cs typeface="Times New Roman"/>
                <a:sym typeface="Times New Roman"/>
              </a:rPr>
              <a:t>Breaks down complex molecules into simpler, commercially available precursors.</a:t>
            </a:r>
          </a:p>
          <a:p>
            <a:pPr algn="l">
              <a:lnSpc>
                <a:spcPts val="3600"/>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6. Forward Reaction Prediction Module</a:t>
            </a:r>
          </a:p>
          <a:p>
            <a:pPr algn="l">
              <a:lnSpc>
                <a:spcPts val="2826"/>
              </a:lnSpc>
              <a:spcBef>
                <a:spcPct val="0"/>
              </a:spcBef>
            </a:pPr>
            <a:r>
              <a:rPr lang="en-US" sz="2355">
                <a:solidFill>
                  <a:srgbClr val="000000"/>
                </a:solidFill>
                <a:latin typeface="Times New Roman"/>
                <a:ea typeface="Times New Roman"/>
                <a:cs typeface="Times New Roman"/>
                <a:sym typeface="Times New Roman"/>
              </a:rPr>
              <a:t>Evaluates the feasibility and success probability of each reaction step.</a:t>
            </a:r>
          </a:p>
          <a:p>
            <a:pPr algn="l">
              <a:lnSpc>
                <a:spcPts val="2826"/>
              </a:lnSpc>
              <a:spcBef>
                <a:spcPct val="0"/>
              </a:spcBef>
            </a:pPr>
            <a:r>
              <a:rPr lang="en-US" sz="2355">
                <a:solidFill>
                  <a:srgbClr val="000000"/>
                </a:solidFill>
                <a:latin typeface="Times New Roman"/>
                <a:ea typeface="Times New Roman"/>
                <a:cs typeface="Times New Roman"/>
                <a:sym typeface="Times New Roman"/>
              </a:rPr>
              <a:t>Filters out low-confidence or impractical reaction pathways.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9159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12</a:t>
              </a:r>
            </a:p>
          </p:txBody>
        </p:sp>
      </p:grpSp>
      <p:grpSp>
        <p:nvGrpSpPr>
          <p:cNvPr name="Group 10" id="10"/>
          <p:cNvGrpSpPr/>
          <p:nvPr/>
        </p:nvGrpSpPr>
        <p:grpSpPr>
          <a:xfrm rot="0">
            <a:off x="7644329" y="9715500"/>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
        <p:nvSpPr>
          <p:cNvPr name="TextBox 13" id="13"/>
          <p:cNvSpPr txBox="true"/>
          <p:nvPr/>
        </p:nvSpPr>
        <p:spPr>
          <a:xfrm rot="0">
            <a:off x="1334503" y="506419"/>
            <a:ext cx="15477151" cy="9172575"/>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7. Safety &amp; Compliance Module</a:t>
            </a:r>
          </a:p>
          <a:p>
            <a:pPr algn="l">
              <a:lnSpc>
                <a:spcPts val="2999"/>
              </a:lnSpc>
              <a:spcBef>
                <a:spcPct val="0"/>
              </a:spcBef>
            </a:pPr>
            <a:r>
              <a:rPr lang="en-US" sz="2499">
                <a:solidFill>
                  <a:srgbClr val="000000"/>
                </a:solidFill>
                <a:latin typeface="Times New Roman"/>
                <a:ea typeface="Times New Roman"/>
                <a:cs typeface="Times New Roman"/>
                <a:sym typeface="Times New Roman"/>
              </a:rPr>
              <a:t>Analyzes hazards related to reagents, solvents, and reaction conditions.</a:t>
            </a:r>
          </a:p>
          <a:p>
            <a:pPr algn="l">
              <a:lnSpc>
                <a:spcPts val="2999"/>
              </a:lnSpc>
              <a:spcBef>
                <a:spcPct val="0"/>
              </a:spcBef>
            </a:pPr>
            <a:r>
              <a:rPr lang="en-US" sz="2499">
                <a:solidFill>
                  <a:srgbClr val="000000"/>
                </a:solidFill>
                <a:latin typeface="Times New Roman"/>
                <a:ea typeface="Times New Roman"/>
                <a:cs typeface="Times New Roman"/>
                <a:sym typeface="Times New Roman"/>
              </a:rPr>
              <a:t>Ensures that suggested routes comply with safe laboratory practices.</a:t>
            </a:r>
          </a:p>
          <a:p>
            <a:pPr algn="l">
              <a:lnSpc>
                <a:spcPts val="2999"/>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8. Procurement &amp; Cost Estimation Module</a:t>
            </a:r>
          </a:p>
          <a:p>
            <a:pPr algn="l">
              <a:lnSpc>
                <a:spcPts val="2999"/>
              </a:lnSpc>
              <a:spcBef>
                <a:spcPct val="0"/>
              </a:spcBef>
            </a:pPr>
            <a:r>
              <a:rPr lang="en-US" sz="2499">
                <a:solidFill>
                  <a:srgbClr val="000000"/>
                </a:solidFill>
                <a:latin typeface="Times New Roman"/>
                <a:ea typeface="Times New Roman"/>
                <a:cs typeface="Times New Roman"/>
                <a:sym typeface="Times New Roman"/>
              </a:rPr>
              <a:t>Estimates reagent availability, suppliers, and overall synthesis cost.</a:t>
            </a:r>
          </a:p>
          <a:p>
            <a:pPr algn="l">
              <a:lnSpc>
                <a:spcPts val="2999"/>
              </a:lnSpc>
              <a:spcBef>
                <a:spcPct val="0"/>
              </a:spcBef>
            </a:pPr>
            <a:r>
              <a:rPr lang="en-US" sz="2499">
                <a:solidFill>
                  <a:srgbClr val="000000"/>
                </a:solidFill>
                <a:latin typeface="Times New Roman"/>
                <a:ea typeface="Times New Roman"/>
                <a:cs typeface="Times New Roman"/>
                <a:sym typeface="Times New Roman"/>
              </a:rPr>
              <a:t>Helps prioritize routes that are economically practical and accessible.</a:t>
            </a:r>
          </a:p>
          <a:p>
            <a:pPr algn="l">
              <a:lnSpc>
                <a:spcPts val="3600"/>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9. Route Scoring &amp; Ranking Module</a:t>
            </a:r>
          </a:p>
          <a:p>
            <a:pPr algn="l">
              <a:lnSpc>
                <a:spcPts val="2999"/>
              </a:lnSpc>
              <a:spcBef>
                <a:spcPct val="0"/>
              </a:spcBef>
            </a:pPr>
            <a:r>
              <a:rPr lang="en-US" sz="2499">
                <a:solidFill>
                  <a:srgbClr val="000000"/>
                </a:solidFill>
                <a:latin typeface="Times New Roman"/>
                <a:ea typeface="Times New Roman"/>
                <a:cs typeface="Times New Roman"/>
                <a:sym typeface="Times New Roman"/>
              </a:rPr>
              <a:t>Scores synthesis routes using multiple criteria such as safety, cost, and efficiency.</a:t>
            </a:r>
          </a:p>
          <a:p>
            <a:pPr algn="l">
              <a:lnSpc>
                <a:spcPts val="2999"/>
              </a:lnSpc>
              <a:spcBef>
                <a:spcPct val="0"/>
              </a:spcBef>
            </a:pPr>
            <a:r>
              <a:rPr lang="en-US" sz="2499">
                <a:solidFill>
                  <a:srgbClr val="000000"/>
                </a:solidFill>
                <a:latin typeface="Times New Roman"/>
                <a:ea typeface="Times New Roman"/>
                <a:cs typeface="Times New Roman"/>
                <a:sym typeface="Times New Roman"/>
              </a:rPr>
              <a:t>Ranks routes to identify the most optimal and reliable pathway.</a:t>
            </a:r>
          </a:p>
          <a:p>
            <a:pPr algn="l">
              <a:lnSpc>
                <a:spcPts val="2999"/>
              </a:lnSpc>
              <a:spcBef>
                <a:spcPct val="0"/>
              </a:spcBef>
            </a:pPr>
          </a:p>
          <a:p>
            <a:pPr algn="l">
              <a:lnSpc>
                <a:spcPts val="3600"/>
              </a:lnSpc>
              <a:spcBef>
                <a:spcPct val="0"/>
              </a:spcBef>
            </a:pPr>
            <a:r>
              <a:rPr lang="en-US" sz="3000">
                <a:solidFill>
                  <a:srgbClr val="000000"/>
                </a:solidFill>
                <a:latin typeface="Times New Roman"/>
                <a:ea typeface="Times New Roman"/>
                <a:cs typeface="Times New Roman"/>
                <a:sym typeface="Times New Roman"/>
              </a:rPr>
              <a:t>1</a:t>
            </a:r>
            <a:r>
              <a:rPr lang="en-US" b="true" sz="3000">
                <a:solidFill>
                  <a:srgbClr val="000000"/>
                </a:solidFill>
                <a:latin typeface="Times New Roman Bold"/>
                <a:ea typeface="Times New Roman Bold"/>
                <a:cs typeface="Times New Roman Bold"/>
                <a:sym typeface="Times New Roman Bold"/>
              </a:rPr>
              <a:t>0. Protocol Generation Module</a:t>
            </a:r>
          </a:p>
          <a:p>
            <a:pPr algn="l">
              <a:lnSpc>
                <a:spcPts val="2999"/>
              </a:lnSpc>
              <a:spcBef>
                <a:spcPct val="0"/>
              </a:spcBef>
            </a:pPr>
            <a:r>
              <a:rPr lang="en-US" sz="2499">
                <a:solidFill>
                  <a:srgbClr val="000000"/>
                </a:solidFill>
                <a:latin typeface="Times New Roman"/>
                <a:ea typeface="Times New Roman"/>
                <a:cs typeface="Times New Roman"/>
                <a:sym typeface="Times New Roman"/>
              </a:rPr>
              <a:t>Converts the selected synthesis route into a detailed experimental procedure.</a:t>
            </a:r>
          </a:p>
          <a:p>
            <a:pPr algn="l">
              <a:lnSpc>
                <a:spcPts val="2999"/>
              </a:lnSpc>
              <a:spcBef>
                <a:spcPct val="0"/>
              </a:spcBef>
            </a:pPr>
            <a:r>
              <a:rPr lang="en-US" sz="2499">
                <a:solidFill>
                  <a:srgbClr val="000000"/>
                </a:solidFill>
                <a:latin typeface="Times New Roman"/>
                <a:ea typeface="Times New Roman"/>
                <a:cs typeface="Times New Roman"/>
                <a:sym typeface="Times New Roman"/>
              </a:rPr>
              <a:t>Generates clear, step-by-step laboratory instructions for execution.</a:t>
            </a:r>
          </a:p>
          <a:p>
            <a:pPr algn="l">
              <a:lnSpc>
                <a:spcPts val="2999"/>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11. Data Curation &amp; Provenance Module</a:t>
            </a:r>
          </a:p>
          <a:p>
            <a:pPr algn="l">
              <a:lnSpc>
                <a:spcPts val="2999"/>
              </a:lnSpc>
              <a:spcBef>
                <a:spcPct val="0"/>
              </a:spcBef>
            </a:pPr>
            <a:r>
              <a:rPr lang="en-US" sz="2499">
                <a:solidFill>
                  <a:srgbClr val="000000"/>
                </a:solidFill>
                <a:latin typeface="Times New Roman"/>
                <a:ea typeface="Times New Roman"/>
                <a:cs typeface="Times New Roman"/>
                <a:sym typeface="Times New Roman"/>
              </a:rPr>
              <a:t>Records all decisions, sources, and intermediate results during planning.</a:t>
            </a:r>
          </a:p>
          <a:p>
            <a:pPr algn="l">
              <a:lnSpc>
                <a:spcPts val="2999"/>
              </a:lnSpc>
              <a:spcBef>
                <a:spcPct val="0"/>
              </a:spcBef>
            </a:pPr>
            <a:r>
              <a:rPr lang="en-US" sz="2499">
                <a:solidFill>
                  <a:srgbClr val="000000"/>
                </a:solidFill>
                <a:latin typeface="Times New Roman"/>
                <a:ea typeface="Times New Roman"/>
                <a:cs typeface="Times New Roman"/>
                <a:sym typeface="Times New Roman"/>
              </a:rPr>
              <a:t>Supports reproducibility, traceability, and auditing of workflows.</a:t>
            </a:r>
          </a:p>
          <a:p>
            <a:pPr algn="l">
              <a:lnSpc>
                <a:spcPts val="2999"/>
              </a:lnSpc>
              <a:spcBef>
                <a:spcPct val="0"/>
              </a:spcBef>
            </a:pPr>
          </a:p>
          <a:p>
            <a:pPr algn="l">
              <a:lnSpc>
                <a:spcPts val="3600"/>
              </a:lnSpc>
              <a:spcBef>
                <a:spcPct val="0"/>
              </a:spcBef>
            </a:pPr>
            <a:r>
              <a:rPr lang="en-US" b="true" sz="3000">
                <a:solidFill>
                  <a:srgbClr val="000000"/>
                </a:solidFill>
                <a:latin typeface="Times New Roman Bold"/>
                <a:ea typeface="Times New Roman Bold"/>
                <a:cs typeface="Times New Roman Bold"/>
                <a:sym typeface="Times New Roman Bold"/>
              </a:rPr>
              <a:t>12. Feedback &amp; Active Learning Module</a:t>
            </a:r>
          </a:p>
          <a:p>
            <a:pPr algn="l">
              <a:lnSpc>
                <a:spcPts val="2999"/>
              </a:lnSpc>
              <a:spcBef>
                <a:spcPct val="0"/>
              </a:spcBef>
            </a:pPr>
            <a:r>
              <a:rPr lang="en-US" sz="2499">
                <a:solidFill>
                  <a:srgbClr val="000000"/>
                </a:solidFill>
                <a:latin typeface="Times New Roman"/>
                <a:ea typeface="Times New Roman"/>
                <a:cs typeface="Times New Roman"/>
                <a:sym typeface="Times New Roman"/>
              </a:rPr>
              <a:t>Collects user feedback and execution outcomes for continuous improvement.</a:t>
            </a:r>
          </a:p>
          <a:p>
            <a:pPr algn="l">
              <a:lnSpc>
                <a:spcPts val="2999"/>
              </a:lnSpc>
              <a:spcBef>
                <a:spcPct val="0"/>
              </a:spcBef>
            </a:pPr>
            <a:r>
              <a:rPr lang="en-US" sz="2499">
                <a:solidFill>
                  <a:srgbClr val="000000"/>
                </a:solidFill>
                <a:latin typeface="Times New Roman"/>
                <a:ea typeface="Times New Roman"/>
                <a:cs typeface="Times New Roman"/>
                <a:sym typeface="Times New Roman"/>
              </a:rPr>
              <a:t>Updates internal models to enhance future predictions and recommendations.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93074"/>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34525"/>
            <a:ext cx="4114800" cy="547688"/>
            <a:chOff x="0" y="0"/>
            <a:chExt cx="5486400" cy="730250"/>
          </a:xfrm>
        </p:grpSpPr>
        <p:sp>
          <p:nvSpPr>
            <p:cNvPr name="Freeform 14" id="14"/>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5" id="15"/>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15</a:t>
              </a:r>
            </a:p>
          </p:txBody>
        </p:sp>
      </p:grpSp>
      <p:sp>
        <p:nvSpPr>
          <p:cNvPr name="Freeform 16" id="16"/>
          <p:cNvSpPr/>
          <p:nvPr/>
        </p:nvSpPr>
        <p:spPr>
          <a:xfrm flipH="false" flipV="false" rot="0">
            <a:off x="1257300" y="2755231"/>
            <a:ext cx="16002000" cy="6080416"/>
          </a:xfrm>
          <a:custGeom>
            <a:avLst/>
            <a:gdLst/>
            <a:ahLst/>
            <a:cxnLst/>
            <a:rect r="r" b="b" t="t" l="l"/>
            <a:pathLst>
              <a:path h="6080416" w="16002000">
                <a:moveTo>
                  <a:pt x="0" y="0"/>
                </a:moveTo>
                <a:lnTo>
                  <a:pt x="16002000" y="0"/>
                </a:lnTo>
                <a:lnTo>
                  <a:pt x="16002000" y="6080416"/>
                </a:lnTo>
                <a:lnTo>
                  <a:pt x="0" y="6080416"/>
                </a:lnTo>
                <a:lnTo>
                  <a:pt x="0" y="0"/>
                </a:lnTo>
                <a:close/>
              </a:path>
            </a:pathLst>
          </a:custGeom>
          <a:blipFill>
            <a:blip r:embed="rId3"/>
            <a:stretch>
              <a:fillRect l="0" t="0" r="0" b="0"/>
            </a:stretch>
          </a:blipFill>
        </p:spPr>
      </p:sp>
      <p:sp>
        <p:nvSpPr>
          <p:cNvPr name="TextBox 17" id="17"/>
          <p:cNvSpPr txBox="true"/>
          <p:nvPr/>
        </p:nvSpPr>
        <p:spPr>
          <a:xfrm rot="0">
            <a:off x="961880" y="1518687"/>
            <a:ext cx="14676117" cy="4586859"/>
          </a:xfrm>
          <a:prstGeom prst="rect">
            <a:avLst/>
          </a:prstGeom>
        </p:spPr>
        <p:txBody>
          <a:bodyPr anchor="t" rtlCol="false" tIns="0" lIns="0" bIns="0" rIns="0">
            <a:spAutoFit/>
          </a:bodyPr>
          <a:lstStyle/>
          <a:p>
            <a:pPr algn="l">
              <a:lnSpc>
                <a:spcPts val="7128"/>
              </a:lnSpc>
            </a:pPr>
            <a:r>
              <a:rPr lang="en-US" sz="6600">
                <a:solidFill>
                  <a:srgbClr val="000000"/>
                </a:solidFill>
                <a:latin typeface="Times New Roman"/>
                <a:ea typeface="Times New Roman"/>
                <a:cs typeface="Times New Roman"/>
                <a:sym typeface="Times New Roman"/>
              </a:rPr>
              <a:t>UML Diagram:</a:t>
            </a:r>
          </a:p>
          <a:p>
            <a:pPr algn="l">
              <a:lnSpc>
                <a:spcPts val="7128"/>
              </a:lnSpc>
            </a:pPr>
          </a:p>
          <a:p>
            <a:pPr algn="l">
              <a:lnSpc>
                <a:spcPts val="7128"/>
              </a:lnSpc>
            </a:pPr>
          </a:p>
          <a:p>
            <a:pPr algn="l">
              <a:lnSpc>
                <a:spcPts val="7128"/>
              </a:lnSpc>
            </a:pPr>
          </a:p>
          <a:p>
            <a:pPr algn="l">
              <a:lnSpc>
                <a:spcPts val="7128"/>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93074"/>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34525"/>
            <a:ext cx="4114800" cy="547688"/>
            <a:chOff x="0" y="0"/>
            <a:chExt cx="5486400" cy="730250"/>
          </a:xfrm>
        </p:grpSpPr>
        <p:sp>
          <p:nvSpPr>
            <p:cNvPr name="Freeform 14" id="14"/>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5" id="15"/>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15</a:t>
              </a:r>
            </a:p>
          </p:txBody>
        </p:sp>
      </p:grpSp>
      <p:sp>
        <p:nvSpPr>
          <p:cNvPr name="Freeform 16" id="16"/>
          <p:cNvSpPr/>
          <p:nvPr/>
        </p:nvSpPr>
        <p:spPr>
          <a:xfrm flipH="false" flipV="false" rot="0">
            <a:off x="0" y="1947748"/>
            <a:ext cx="17882997" cy="6406416"/>
          </a:xfrm>
          <a:custGeom>
            <a:avLst/>
            <a:gdLst/>
            <a:ahLst/>
            <a:cxnLst/>
            <a:rect r="r" b="b" t="t" l="l"/>
            <a:pathLst>
              <a:path h="6406416" w="17882997">
                <a:moveTo>
                  <a:pt x="0" y="0"/>
                </a:moveTo>
                <a:lnTo>
                  <a:pt x="17882997" y="0"/>
                </a:lnTo>
                <a:lnTo>
                  <a:pt x="17882997" y="6406416"/>
                </a:lnTo>
                <a:lnTo>
                  <a:pt x="0" y="6406416"/>
                </a:lnTo>
                <a:lnTo>
                  <a:pt x="0" y="0"/>
                </a:lnTo>
                <a:close/>
              </a:path>
            </a:pathLst>
          </a:custGeom>
          <a:blipFill>
            <a:blip r:embed="rId3"/>
            <a:stretch>
              <a:fillRect l="0" t="0" r="0" b="0"/>
            </a:stretch>
          </a:blipFill>
        </p:spPr>
      </p:sp>
      <p:sp>
        <p:nvSpPr>
          <p:cNvPr name="TextBox 17" id="17"/>
          <p:cNvSpPr txBox="true"/>
          <p:nvPr/>
        </p:nvSpPr>
        <p:spPr>
          <a:xfrm rot="0">
            <a:off x="1028700" y="846937"/>
            <a:ext cx="14676117" cy="4586859"/>
          </a:xfrm>
          <a:prstGeom prst="rect">
            <a:avLst/>
          </a:prstGeom>
        </p:spPr>
        <p:txBody>
          <a:bodyPr anchor="t" rtlCol="false" tIns="0" lIns="0" bIns="0" rIns="0">
            <a:spAutoFit/>
          </a:bodyPr>
          <a:lstStyle/>
          <a:p>
            <a:pPr algn="l">
              <a:lnSpc>
                <a:spcPts val="7128"/>
              </a:lnSpc>
            </a:pPr>
            <a:r>
              <a:rPr lang="en-US" sz="6600">
                <a:solidFill>
                  <a:srgbClr val="000000"/>
                </a:solidFill>
                <a:latin typeface="Times New Roman"/>
                <a:ea typeface="Times New Roman"/>
                <a:cs typeface="Times New Roman"/>
                <a:sym typeface="Times New Roman"/>
              </a:rPr>
              <a:t>Sequence </a:t>
            </a:r>
            <a:r>
              <a:rPr lang="en-US" sz="6600">
                <a:solidFill>
                  <a:srgbClr val="000000"/>
                </a:solidFill>
                <a:latin typeface="Times New Roman"/>
                <a:ea typeface="Times New Roman"/>
                <a:cs typeface="Times New Roman"/>
                <a:sym typeface="Times New Roman"/>
              </a:rPr>
              <a:t>Diagram:</a:t>
            </a:r>
          </a:p>
          <a:p>
            <a:pPr algn="l">
              <a:lnSpc>
                <a:spcPts val="7128"/>
              </a:lnSpc>
            </a:pPr>
          </a:p>
          <a:p>
            <a:pPr algn="l">
              <a:lnSpc>
                <a:spcPts val="7128"/>
              </a:lnSpc>
            </a:pPr>
          </a:p>
          <a:p>
            <a:pPr algn="l">
              <a:lnSpc>
                <a:spcPts val="7128"/>
              </a:lnSpc>
            </a:pPr>
          </a:p>
          <a:p>
            <a:pPr algn="l">
              <a:lnSpc>
                <a:spcPts val="7128"/>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93074"/>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34525"/>
            <a:ext cx="4114800" cy="547688"/>
            <a:chOff x="0" y="0"/>
            <a:chExt cx="5486400" cy="730250"/>
          </a:xfrm>
        </p:grpSpPr>
        <p:sp>
          <p:nvSpPr>
            <p:cNvPr name="Freeform 14" id="14"/>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5" id="15"/>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15</a:t>
              </a:r>
            </a:p>
          </p:txBody>
        </p:sp>
      </p:grpSp>
      <p:sp>
        <p:nvSpPr>
          <p:cNvPr name="Freeform 16" id="16"/>
          <p:cNvSpPr/>
          <p:nvPr/>
        </p:nvSpPr>
        <p:spPr>
          <a:xfrm flipH="false" flipV="false" rot="0">
            <a:off x="2610793" y="1696915"/>
            <a:ext cx="11511932" cy="8385298"/>
          </a:xfrm>
          <a:custGeom>
            <a:avLst/>
            <a:gdLst/>
            <a:ahLst/>
            <a:cxnLst/>
            <a:rect r="r" b="b" t="t" l="l"/>
            <a:pathLst>
              <a:path h="8385298" w="11511932">
                <a:moveTo>
                  <a:pt x="0" y="0"/>
                </a:moveTo>
                <a:lnTo>
                  <a:pt x="11511931" y="0"/>
                </a:lnTo>
                <a:lnTo>
                  <a:pt x="11511931" y="8385297"/>
                </a:lnTo>
                <a:lnTo>
                  <a:pt x="0" y="8385297"/>
                </a:lnTo>
                <a:lnTo>
                  <a:pt x="0" y="0"/>
                </a:lnTo>
                <a:close/>
              </a:path>
            </a:pathLst>
          </a:custGeom>
          <a:blipFill>
            <a:blip r:embed="rId3"/>
            <a:stretch>
              <a:fillRect l="0" t="-843" r="-637" b="-843"/>
            </a:stretch>
          </a:blipFill>
        </p:spPr>
      </p:sp>
      <p:sp>
        <p:nvSpPr>
          <p:cNvPr name="TextBox 17" id="17"/>
          <p:cNvSpPr txBox="true"/>
          <p:nvPr/>
        </p:nvSpPr>
        <p:spPr>
          <a:xfrm rot="0">
            <a:off x="1028700" y="846937"/>
            <a:ext cx="14676117" cy="4586859"/>
          </a:xfrm>
          <a:prstGeom prst="rect">
            <a:avLst/>
          </a:prstGeom>
        </p:spPr>
        <p:txBody>
          <a:bodyPr anchor="t" rtlCol="false" tIns="0" lIns="0" bIns="0" rIns="0">
            <a:spAutoFit/>
          </a:bodyPr>
          <a:lstStyle/>
          <a:p>
            <a:pPr algn="l">
              <a:lnSpc>
                <a:spcPts val="7128"/>
              </a:lnSpc>
            </a:pPr>
            <a:r>
              <a:rPr lang="en-US" sz="6600">
                <a:solidFill>
                  <a:srgbClr val="000000"/>
                </a:solidFill>
                <a:latin typeface="Times New Roman"/>
                <a:ea typeface="Times New Roman"/>
                <a:cs typeface="Times New Roman"/>
                <a:sym typeface="Times New Roman"/>
              </a:rPr>
              <a:t>Activity</a:t>
            </a:r>
            <a:r>
              <a:rPr lang="en-US" sz="6600">
                <a:solidFill>
                  <a:srgbClr val="000000"/>
                </a:solidFill>
                <a:latin typeface="Times New Roman"/>
                <a:ea typeface="Times New Roman"/>
                <a:cs typeface="Times New Roman"/>
                <a:sym typeface="Times New Roman"/>
              </a:rPr>
              <a:t> Diagram:</a:t>
            </a:r>
          </a:p>
          <a:p>
            <a:pPr algn="l">
              <a:lnSpc>
                <a:spcPts val="7128"/>
              </a:lnSpc>
            </a:pPr>
          </a:p>
          <a:p>
            <a:pPr algn="l">
              <a:lnSpc>
                <a:spcPts val="7128"/>
              </a:lnSpc>
            </a:pPr>
          </a:p>
          <a:p>
            <a:pPr algn="l">
              <a:lnSpc>
                <a:spcPts val="7128"/>
              </a:lnSpc>
            </a:pPr>
          </a:p>
          <a:p>
            <a:pPr algn="l">
              <a:lnSpc>
                <a:spcPts val="7128"/>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93074"/>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34525"/>
            <a:ext cx="4114800" cy="547688"/>
            <a:chOff x="0" y="0"/>
            <a:chExt cx="5486400" cy="730250"/>
          </a:xfrm>
        </p:grpSpPr>
        <p:sp>
          <p:nvSpPr>
            <p:cNvPr name="Freeform 14" id="14"/>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5" id="15"/>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16</a:t>
              </a:r>
            </a:p>
          </p:txBody>
        </p:sp>
      </p:grpSp>
      <p:sp>
        <p:nvSpPr>
          <p:cNvPr name="TextBox 16" id="16"/>
          <p:cNvSpPr txBox="true"/>
          <p:nvPr/>
        </p:nvSpPr>
        <p:spPr>
          <a:xfrm rot="0">
            <a:off x="1823527" y="4173966"/>
            <a:ext cx="14676117" cy="1284300"/>
          </a:xfrm>
          <a:prstGeom prst="rect">
            <a:avLst/>
          </a:prstGeom>
        </p:spPr>
        <p:txBody>
          <a:bodyPr anchor="t" rtlCol="false" tIns="0" lIns="0" bIns="0" rIns="0">
            <a:spAutoFit/>
          </a:bodyPr>
          <a:lstStyle/>
          <a:p>
            <a:pPr algn="ctr">
              <a:lnSpc>
                <a:spcPts val="7128"/>
              </a:lnSpc>
            </a:pPr>
            <a:r>
              <a:rPr lang="en-US" sz="6600">
                <a:solidFill>
                  <a:srgbClr val="000000"/>
                </a:solidFill>
                <a:latin typeface="Times New Roman"/>
                <a:ea typeface="Times New Roman"/>
                <a:cs typeface="Times New Roman"/>
                <a:sym typeface="Times New Roman"/>
              </a:rPr>
              <a:t>Implementation &amp; Testing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93074"/>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34525"/>
            <a:ext cx="4114800" cy="547688"/>
            <a:chOff x="0" y="0"/>
            <a:chExt cx="5486400" cy="730250"/>
          </a:xfrm>
        </p:grpSpPr>
        <p:sp>
          <p:nvSpPr>
            <p:cNvPr name="Freeform 14" id="14"/>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5" id="15"/>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17</a:t>
              </a:r>
            </a:p>
          </p:txBody>
        </p:sp>
      </p:grpSp>
      <p:sp>
        <p:nvSpPr>
          <p:cNvPr name="TextBox 16" id="16"/>
          <p:cNvSpPr txBox="true"/>
          <p:nvPr/>
        </p:nvSpPr>
        <p:spPr>
          <a:xfrm rot="0">
            <a:off x="902838" y="959505"/>
            <a:ext cx="15001434" cy="1259205"/>
          </a:xfrm>
          <a:prstGeom prst="rect">
            <a:avLst/>
          </a:prstGeom>
        </p:spPr>
        <p:txBody>
          <a:bodyPr anchor="t" rtlCol="false" tIns="0" lIns="0" bIns="0" rIns="0">
            <a:spAutoFit/>
          </a:bodyPr>
          <a:lstStyle/>
          <a:p>
            <a:pPr algn="l">
              <a:lnSpc>
                <a:spcPts val="4860"/>
              </a:lnSpc>
            </a:pPr>
            <a:r>
              <a:rPr lang="en-US" sz="4500" b="true">
                <a:solidFill>
                  <a:srgbClr val="000000"/>
                </a:solidFill>
                <a:latin typeface="Times New Roman Bold"/>
                <a:ea typeface="Times New Roman Bold"/>
                <a:cs typeface="Times New Roman Bold"/>
                <a:sym typeface="Times New Roman Bold"/>
              </a:rPr>
              <a:t>Usage of Platforms, Languages, tools, Components and Modules wise implementation info:</a:t>
            </a:r>
          </a:p>
        </p:txBody>
      </p:sp>
      <p:sp>
        <p:nvSpPr>
          <p:cNvPr name="TextBox 17" id="17"/>
          <p:cNvSpPr txBox="true"/>
          <p:nvPr/>
        </p:nvSpPr>
        <p:spPr>
          <a:xfrm rot="0">
            <a:off x="1257300" y="2550717"/>
            <a:ext cx="11869341" cy="6019800"/>
          </a:xfrm>
          <a:prstGeom prst="rect">
            <a:avLst/>
          </a:prstGeom>
        </p:spPr>
        <p:txBody>
          <a:bodyPr anchor="t" rtlCol="false" tIns="0" lIns="0" bIns="0" rIns="0">
            <a:spAutoFit/>
          </a:bodyPr>
          <a:lstStyle/>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Programming Language:</a:t>
            </a:r>
            <a:r>
              <a:rPr lang="en-US" sz="3999">
                <a:solidFill>
                  <a:srgbClr val="000000"/>
                </a:solidFill>
                <a:latin typeface="Times New Roman"/>
                <a:ea typeface="Times New Roman"/>
                <a:cs typeface="Times New Roman"/>
                <a:sym typeface="Times New Roman"/>
              </a:rPr>
              <a:t> Python</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Backend Framework:</a:t>
            </a:r>
            <a:r>
              <a:rPr lang="en-US" sz="3999">
                <a:solidFill>
                  <a:srgbClr val="000000"/>
                </a:solidFill>
                <a:latin typeface="Times New Roman"/>
                <a:ea typeface="Times New Roman"/>
                <a:cs typeface="Times New Roman"/>
                <a:sym typeface="Times New Roman"/>
              </a:rPr>
              <a:t> FastAPI</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Agent Orchestration:</a:t>
            </a:r>
            <a:r>
              <a:rPr lang="en-US" sz="3999">
                <a:solidFill>
                  <a:srgbClr val="000000"/>
                </a:solidFill>
                <a:latin typeface="Times New Roman"/>
                <a:ea typeface="Times New Roman"/>
                <a:cs typeface="Times New Roman"/>
                <a:sym typeface="Times New Roman"/>
              </a:rPr>
              <a:t> LangGraph</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NLP Tools: </a:t>
            </a:r>
            <a:r>
              <a:rPr lang="en-US" sz="3999">
                <a:solidFill>
                  <a:srgbClr val="000000"/>
                </a:solidFill>
                <a:latin typeface="Times New Roman"/>
                <a:ea typeface="Times New Roman"/>
                <a:cs typeface="Times New Roman"/>
                <a:sym typeface="Times New Roman"/>
              </a:rPr>
              <a:t>spaCy, Transformers</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Cheminformatics:</a:t>
            </a:r>
            <a:r>
              <a:rPr lang="en-US" sz="3999">
                <a:solidFill>
                  <a:srgbClr val="000000"/>
                </a:solidFill>
                <a:latin typeface="Times New Roman"/>
                <a:ea typeface="Times New Roman"/>
                <a:cs typeface="Times New Roman"/>
                <a:sym typeface="Times New Roman"/>
              </a:rPr>
              <a:t> RDKit, PubChemPy</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Machine Learning:</a:t>
            </a:r>
            <a:r>
              <a:rPr lang="en-US" sz="3999">
                <a:solidFill>
                  <a:srgbClr val="000000"/>
                </a:solidFill>
                <a:latin typeface="Times New Roman"/>
                <a:ea typeface="Times New Roman"/>
                <a:cs typeface="Times New Roman"/>
                <a:sym typeface="Times New Roman"/>
              </a:rPr>
              <a:t> PyTorch, Sentence-Transformers</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Database (Optional):</a:t>
            </a:r>
            <a:r>
              <a:rPr lang="en-US" sz="3999">
                <a:solidFill>
                  <a:srgbClr val="000000"/>
                </a:solidFill>
                <a:latin typeface="Times New Roman"/>
                <a:ea typeface="Times New Roman"/>
                <a:cs typeface="Times New Roman"/>
                <a:sym typeface="Times New Roman"/>
              </a:rPr>
              <a:t> MongoDB</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Image Processing:</a:t>
            </a:r>
            <a:r>
              <a:rPr lang="en-US" sz="3999">
                <a:solidFill>
                  <a:srgbClr val="000000"/>
                </a:solidFill>
                <a:latin typeface="Times New Roman"/>
                <a:ea typeface="Times New Roman"/>
                <a:cs typeface="Times New Roman"/>
                <a:sym typeface="Times New Roman"/>
              </a:rPr>
              <a:t> Tesseract OCR, Pillow</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Deployment: </a:t>
            </a:r>
            <a:r>
              <a:rPr lang="en-US" sz="3999">
                <a:solidFill>
                  <a:srgbClr val="000000"/>
                </a:solidFill>
                <a:latin typeface="Times New Roman"/>
                <a:ea typeface="Times New Roman"/>
                <a:cs typeface="Times New Roman"/>
                <a:sym typeface="Times New Roman"/>
              </a:rPr>
              <a:t>Uvicorn</a:t>
            </a:r>
          </a:p>
          <a:p>
            <a:pPr algn="l" marL="863599" indent="-431800" lvl="1">
              <a:lnSpc>
                <a:spcPts val="4799"/>
              </a:lnSpc>
              <a:buFont typeface="Arial"/>
              <a:buChar char="•"/>
            </a:pPr>
            <a:r>
              <a:rPr lang="en-US" b="true" sz="3999">
                <a:solidFill>
                  <a:srgbClr val="000000"/>
                </a:solidFill>
                <a:latin typeface="Times New Roman Bold"/>
                <a:ea typeface="Times New Roman Bold"/>
                <a:cs typeface="Times New Roman Bold"/>
                <a:sym typeface="Times New Roman Bold"/>
              </a:rPr>
              <a:t>Version Control:</a:t>
            </a:r>
            <a:r>
              <a:rPr lang="en-US" sz="3999">
                <a:solidFill>
                  <a:srgbClr val="000000"/>
                </a:solidFill>
                <a:latin typeface="Times New Roman"/>
                <a:ea typeface="Times New Roman"/>
                <a:cs typeface="Times New Roman"/>
                <a:sym typeface="Times New Roman"/>
              </a:rPr>
              <a:t> Git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grpSp>
        <p:nvGrpSpPr>
          <p:cNvPr name="Group 7" id="7"/>
          <p:cNvGrpSpPr/>
          <p:nvPr/>
        </p:nvGrpSpPr>
        <p:grpSpPr>
          <a:xfrm rot="0">
            <a:off x="1257300" y="9534525"/>
            <a:ext cx="4114800" cy="547688"/>
            <a:chOff x="0" y="0"/>
            <a:chExt cx="5486400" cy="730250"/>
          </a:xfrm>
        </p:grpSpPr>
        <p:sp>
          <p:nvSpPr>
            <p:cNvPr name="Freeform 8" id="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9" id="9"/>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0" id="10"/>
          <p:cNvGrpSpPr/>
          <p:nvPr/>
        </p:nvGrpSpPr>
        <p:grpSpPr>
          <a:xfrm rot="0">
            <a:off x="7499838" y="9493074"/>
            <a:ext cx="2857500" cy="547688"/>
            <a:chOff x="0" y="0"/>
            <a:chExt cx="3810000" cy="730250"/>
          </a:xfrm>
        </p:grpSpPr>
        <p:sp>
          <p:nvSpPr>
            <p:cNvPr name="Freeform 11" id="11"/>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2" id="12"/>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grpSp>
        <p:nvGrpSpPr>
          <p:cNvPr name="Group 13" id="13"/>
          <p:cNvGrpSpPr/>
          <p:nvPr/>
        </p:nvGrpSpPr>
        <p:grpSpPr>
          <a:xfrm rot="0">
            <a:off x="12915900" y="9534525"/>
            <a:ext cx="4114800" cy="547688"/>
            <a:chOff x="0" y="0"/>
            <a:chExt cx="5486400" cy="730250"/>
          </a:xfrm>
        </p:grpSpPr>
        <p:sp>
          <p:nvSpPr>
            <p:cNvPr name="Freeform 14" id="14"/>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5" id="15"/>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18</a:t>
              </a:r>
            </a:p>
          </p:txBody>
        </p:sp>
      </p:grpSp>
      <p:graphicFrame>
        <p:nvGraphicFramePr>
          <p:cNvPr name="Object 16" id="16"/>
          <p:cNvGraphicFramePr/>
          <p:nvPr/>
        </p:nvGraphicFramePr>
        <p:xfrm>
          <a:off x="1257300" y="1749249"/>
          <a:ext cx="9429750" cy="6915150"/>
        </p:xfrm>
        <a:graphic>
          <a:graphicData uri="http://schemas.openxmlformats.org/presentationml/2006/ole">
            <p:oleObj imgW="11315700" imgH="88011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7" id="17"/>
          <p:cNvSpPr txBox="true"/>
          <p:nvPr/>
        </p:nvSpPr>
        <p:spPr>
          <a:xfrm rot="0">
            <a:off x="2569341" y="745808"/>
            <a:ext cx="13334931" cy="584835"/>
          </a:xfrm>
          <a:prstGeom prst="rect">
            <a:avLst/>
          </a:prstGeom>
        </p:spPr>
        <p:txBody>
          <a:bodyPr anchor="t" rtlCol="false" tIns="0" lIns="0" bIns="0" rIns="0">
            <a:spAutoFit/>
          </a:bodyPr>
          <a:lstStyle/>
          <a:p>
            <a:pPr algn="l">
              <a:lnSpc>
                <a:spcPts val="4319"/>
              </a:lnSpc>
            </a:pPr>
            <a:r>
              <a:rPr lang="en-US" sz="3999" b="true">
                <a:solidFill>
                  <a:srgbClr val="000000"/>
                </a:solidFill>
                <a:latin typeface="Times New Roman Bold"/>
                <a:ea typeface="Times New Roman Bold"/>
                <a:cs typeface="Times New Roman Bold"/>
                <a:sym typeface="Times New Roman Bold"/>
              </a:rPr>
              <a:t>About Testing &amp; Test Cases (Scenarios)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904272" y="261150"/>
            <a:ext cx="1814764" cy="1243185"/>
            <a:chOff x="0" y="0"/>
            <a:chExt cx="2419686" cy="1657580"/>
          </a:xfrm>
        </p:grpSpPr>
        <p:sp>
          <p:nvSpPr>
            <p:cNvPr name="Freeform 3" id="3"/>
            <p:cNvSpPr/>
            <p:nvPr/>
          </p:nvSpPr>
          <p:spPr>
            <a:xfrm flipH="false" flipV="false" rot="0">
              <a:off x="0" y="0"/>
              <a:ext cx="2419731" cy="1657604"/>
            </a:xfrm>
            <a:custGeom>
              <a:avLst/>
              <a:gdLst/>
              <a:ahLst/>
              <a:cxnLst/>
              <a:rect r="r" b="b" t="t" l="l"/>
              <a:pathLst>
                <a:path h="1657604" w="2419731">
                  <a:moveTo>
                    <a:pt x="0" y="0"/>
                  </a:moveTo>
                  <a:lnTo>
                    <a:pt x="2419731" y="0"/>
                  </a:lnTo>
                  <a:lnTo>
                    <a:pt x="2419731" y="1657604"/>
                  </a:lnTo>
                  <a:lnTo>
                    <a:pt x="0" y="1657604"/>
                  </a:lnTo>
                  <a:lnTo>
                    <a:pt x="0" y="0"/>
                  </a:lnTo>
                  <a:close/>
                </a:path>
              </a:pathLst>
            </a:custGeom>
            <a:blipFill>
              <a:blip r:embed="rId2"/>
              <a:stretch>
                <a:fillRect l="0" t="0" r="1" b="1"/>
              </a:stretch>
            </a:blipFill>
          </p:spPr>
        </p:sp>
      </p:grpSp>
      <p:grpSp>
        <p:nvGrpSpPr>
          <p:cNvPr name="Group 4" id="4"/>
          <p:cNvGrpSpPr/>
          <p:nvPr/>
        </p:nvGrpSpPr>
        <p:grpSpPr>
          <a:xfrm rot="0">
            <a:off x="167054" y="261150"/>
            <a:ext cx="4633546" cy="547688"/>
            <a:chOff x="0" y="0"/>
            <a:chExt cx="6178062" cy="730250"/>
          </a:xfrm>
        </p:grpSpPr>
        <p:sp>
          <p:nvSpPr>
            <p:cNvPr name="Freeform 5" id="5"/>
            <p:cNvSpPr/>
            <p:nvPr/>
          </p:nvSpPr>
          <p:spPr>
            <a:xfrm flipH="false" flipV="false" rot="0">
              <a:off x="0" y="0"/>
              <a:ext cx="6178062" cy="730250"/>
            </a:xfrm>
            <a:custGeom>
              <a:avLst/>
              <a:gdLst/>
              <a:ahLst/>
              <a:cxnLst/>
              <a:rect r="r" b="b" t="t" l="l"/>
              <a:pathLst>
                <a:path h="730250" w="6178062">
                  <a:moveTo>
                    <a:pt x="0" y="0"/>
                  </a:moveTo>
                  <a:lnTo>
                    <a:pt x="6178062" y="0"/>
                  </a:lnTo>
                  <a:lnTo>
                    <a:pt x="6178062" y="730250"/>
                  </a:lnTo>
                  <a:lnTo>
                    <a:pt x="0" y="730250"/>
                  </a:lnTo>
                  <a:close/>
                </a:path>
              </a:pathLst>
            </a:custGeom>
            <a:solidFill>
              <a:srgbClr val="000000">
                <a:alpha val="0"/>
              </a:srgbClr>
            </a:solidFill>
          </p:spPr>
        </p:sp>
        <p:sp>
          <p:nvSpPr>
            <p:cNvPr name="TextBox 6" id="6"/>
            <p:cNvSpPr txBox="true"/>
            <p:nvPr/>
          </p:nvSpPr>
          <p:spPr>
            <a:xfrm>
              <a:off x="0" y="-57150"/>
              <a:ext cx="6178062" cy="787400"/>
            </a:xfrm>
            <a:prstGeom prst="rect">
              <a:avLst/>
            </a:prstGeom>
          </p:spPr>
          <p:txBody>
            <a:bodyPr anchor="ctr" rtlCol="false" tIns="0" lIns="0" bIns="0" rIns="0"/>
            <a:lstStyle/>
            <a:p>
              <a:pPr algn="l">
                <a:lnSpc>
                  <a:spcPts val="3240"/>
                </a:lnSpc>
              </a:pPr>
              <a:r>
                <a:rPr lang="en-US" sz="2700">
                  <a:solidFill>
                    <a:srgbClr val="000000"/>
                  </a:solidFill>
                  <a:latin typeface="Calibri (MS)"/>
                  <a:ea typeface="Calibri (MS)"/>
                  <a:cs typeface="Calibri (MS)"/>
                  <a:sym typeface="Calibri (MS)"/>
                </a:rPr>
                <a:t>Keshav Memorial Engineering College</a:t>
              </a:r>
            </a:p>
          </p:txBody>
        </p:sp>
      </p:grpSp>
      <p:sp>
        <p:nvSpPr>
          <p:cNvPr name="TextBox 7" id="7"/>
          <p:cNvSpPr txBox="true"/>
          <p:nvPr/>
        </p:nvSpPr>
        <p:spPr>
          <a:xfrm rot="0">
            <a:off x="5056502" y="3163518"/>
            <a:ext cx="8201146" cy="2320200"/>
          </a:xfrm>
          <a:prstGeom prst="rect">
            <a:avLst/>
          </a:prstGeom>
        </p:spPr>
        <p:txBody>
          <a:bodyPr anchor="t" rtlCol="false" tIns="0" lIns="0" bIns="0" rIns="0">
            <a:spAutoFit/>
          </a:bodyPr>
          <a:lstStyle/>
          <a:p>
            <a:pPr algn="just">
              <a:lnSpc>
                <a:spcPts val="17280"/>
              </a:lnSpc>
            </a:pPr>
            <a:r>
              <a:rPr lang="en-US" sz="14400">
                <a:solidFill>
                  <a:srgbClr val="000000"/>
                </a:solidFill>
                <a:latin typeface="Times New Roman"/>
                <a:ea typeface="Times New Roman"/>
                <a:cs typeface="Times New Roman"/>
                <a:sym typeface="Times New Roman"/>
              </a:rPr>
              <a:t>Thank You</a:t>
            </a:r>
          </a:p>
        </p:txBody>
      </p:sp>
      <p:grpSp>
        <p:nvGrpSpPr>
          <p:cNvPr name="Group 8" id="8"/>
          <p:cNvGrpSpPr/>
          <p:nvPr/>
        </p:nvGrpSpPr>
        <p:grpSpPr>
          <a:xfrm rot="0">
            <a:off x="1257300" y="9534525"/>
            <a:ext cx="4114800" cy="547688"/>
            <a:chOff x="0" y="0"/>
            <a:chExt cx="5486400" cy="730250"/>
          </a:xfrm>
        </p:grpSpPr>
        <p:sp>
          <p:nvSpPr>
            <p:cNvPr name="Freeform 9" id="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0" id="10"/>
            <p:cNvSpPr txBox="true"/>
            <p:nvPr/>
          </p:nvSpPr>
          <p:spPr>
            <a:xfrm>
              <a:off x="0" y="-19050"/>
              <a:ext cx="5486400" cy="749300"/>
            </a:xfrm>
            <a:prstGeom prst="rect">
              <a:avLst/>
            </a:prstGeom>
          </p:spPr>
          <p:txBody>
            <a:bodyPr anchor="ctr" rtlCol="false" tIns="0" lIns="0" bIns="0" rIns="0"/>
            <a:lstStyle/>
            <a:p>
              <a:pPr algn="l">
                <a:lnSpc>
                  <a:spcPts val="2160"/>
                </a:lnSpc>
              </a:pPr>
              <a:r>
                <a:rPr lang="en-US" sz="1800">
                  <a:solidFill>
                    <a:srgbClr val="898989"/>
                  </a:solidFill>
                  <a:latin typeface="Times New Roman"/>
                  <a:ea typeface="Times New Roman"/>
                  <a:cs typeface="Times New Roman"/>
                  <a:sym typeface="Times New Roman"/>
                </a:rPr>
                <a:t>11-11-2025</a:t>
              </a:r>
            </a:p>
          </p:txBody>
        </p:sp>
      </p:grpSp>
      <p:grpSp>
        <p:nvGrpSpPr>
          <p:cNvPr name="Group 11" id="11"/>
          <p:cNvGrpSpPr/>
          <p:nvPr/>
        </p:nvGrpSpPr>
        <p:grpSpPr>
          <a:xfrm rot="0">
            <a:off x="12915900" y="9534525"/>
            <a:ext cx="4114800" cy="547688"/>
            <a:chOff x="0" y="0"/>
            <a:chExt cx="5486400" cy="730250"/>
          </a:xfrm>
        </p:grpSpPr>
        <p:sp>
          <p:nvSpPr>
            <p:cNvPr name="Freeform 12" id="12"/>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13" id="13"/>
            <p:cNvSpPr txBox="true"/>
            <p:nvPr/>
          </p:nvSpPr>
          <p:spPr>
            <a:xfrm>
              <a:off x="0" y="-19050"/>
              <a:ext cx="5486400" cy="749300"/>
            </a:xfrm>
            <a:prstGeom prst="rect">
              <a:avLst/>
            </a:prstGeom>
          </p:spPr>
          <p:txBody>
            <a:bodyPr anchor="ctr" rtlCol="false" tIns="0" lIns="0" bIns="0" rIns="0"/>
            <a:lstStyle/>
            <a:p>
              <a:pPr algn="r">
                <a:lnSpc>
                  <a:spcPts val="2160"/>
                </a:lnSpc>
              </a:pPr>
              <a:r>
                <a:rPr lang="en-US" sz="1800">
                  <a:solidFill>
                    <a:srgbClr val="898989"/>
                  </a:solidFill>
                  <a:latin typeface="Times New Roman"/>
                  <a:ea typeface="Times New Roman"/>
                  <a:cs typeface="Times New Roman"/>
                  <a:sym typeface="Times New Roman"/>
                </a:rPr>
                <a:t>26</a:t>
              </a:r>
            </a:p>
          </p:txBody>
        </p:sp>
      </p:grpSp>
      <p:grpSp>
        <p:nvGrpSpPr>
          <p:cNvPr name="Group 14" id="14"/>
          <p:cNvGrpSpPr/>
          <p:nvPr/>
        </p:nvGrpSpPr>
        <p:grpSpPr>
          <a:xfrm rot="0">
            <a:off x="7499838" y="9493074"/>
            <a:ext cx="2857500" cy="547688"/>
            <a:chOff x="0" y="0"/>
            <a:chExt cx="3810000" cy="730250"/>
          </a:xfrm>
        </p:grpSpPr>
        <p:sp>
          <p:nvSpPr>
            <p:cNvPr name="Freeform 15" id="15"/>
            <p:cNvSpPr/>
            <p:nvPr/>
          </p:nvSpPr>
          <p:spPr>
            <a:xfrm flipH="false" flipV="false" rot="0">
              <a:off x="0" y="0"/>
              <a:ext cx="3810000" cy="730250"/>
            </a:xfrm>
            <a:custGeom>
              <a:avLst/>
              <a:gdLst/>
              <a:ahLst/>
              <a:cxnLst/>
              <a:rect r="r" b="b" t="t" l="l"/>
              <a:pathLst>
                <a:path h="730250" w="3810000">
                  <a:moveTo>
                    <a:pt x="0" y="0"/>
                  </a:moveTo>
                  <a:lnTo>
                    <a:pt x="3810000" y="0"/>
                  </a:lnTo>
                  <a:lnTo>
                    <a:pt x="3810000" y="730250"/>
                  </a:lnTo>
                  <a:lnTo>
                    <a:pt x="0" y="730250"/>
                  </a:lnTo>
                  <a:close/>
                </a:path>
              </a:pathLst>
            </a:custGeom>
            <a:solidFill>
              <a:srgbClr val="000000">
                <a:alpha val="0"/>
              </a:srgbClr>
            </a:solidFill>
          </p:spPr>
        </p:sp>
        <p:sp>
          <p:nvSpPr>
            <p:cNvPr name="TextBox 16" id="16"/>
            <p:cNvSpPr txBox="true"/>
            <p:nvPr/>
          </p:nvSpPr>
          <p:spPr>
            <a:xfrm>
              <a:off x="0" y="-19050"/>
              <a:ext cx="3810000" cy="749300"/>
            </a:xfrm>
            <a:prstGeom prst="rect">
              <a:avLst/>
            </a:prstGeom>
          </p:spPr>
          <p:txBody>
            <a:bodyPr anchor="ctr" rtlCol="false" tIns="0" lIns="0" bIns="0" rIns="0"/>
            <a:lstStyle/>
            <a:p>
              <a:pPr algn="ctr">
                <a:lnSpc>
                  <a:spcPts val="2160"/>
                </a:lnSpc>
              </a:pPr>
              <a:r>
                <a:rPr lang="en-US" sz="1800">
                  <a:solidFill>
                    <a:srgbClr val="898989"/>
                  </a:solidFill>
                  <a:latin typeface="Times New Roman"/>
                  <a:ea typeface="Times New Roman"/>
                  <a:cs typeface="Times New Roman"/>
                  <a:sym typeface="Times New Roman"/>
                </a:rPr>
                <a:t>Dept. of CSE(AI &amp; ML)</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DAG7WpoqDpM</dc:identifier>
  <dcterms:modified xsi:type="dcterms:W3CDTF">2011-08-01T06:04:30Z</dcterms:modified>
  <cp:revision>1</cp:revision>
  <dc:title>KMEC_CSM_Section_BatchNo._ProjectName.pptx</dc:title>
</cp:coreProperties>
</file>